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005840"/>
            <a:ext cx="7498079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 Display"/>
              </a:defRPr>
            </a:pPr>
            <a:r>
              <a:t>THE AI BILLING</a:t>
            </a:r>
            <a:br/>
            <a:r>
              <a:t>DELEGATION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4203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ABDS: OAuth-based delegation for user-authorized AI resource consumption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749039"/>
            <a:ext cx="5120640" cy="1051560"/>
          </a:xfrm>
          <a:prstGeom prst="roundRect">
            <a:avLst/>
          </a:prstGeom>
          <a:solidFill>
            <a:srgbClr val="0B12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3749039"/>
            <a:ext cx="73152" cy="105156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913631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Proposed open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4800600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Bounded, revocable, provider-enforced delegation of AI resource usage from a user-authorized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89788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Marc Johnston | NeuroSync AI Dynamics Pty Ltd</a:t>
            </a:r>
            <a:br/>
            <a:r>
              <a:t>Cape Town, South Africa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MARKET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The consumer AI app economy has a billing problem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ptos"/>
              </a:defRPr>
            </a:pPr>
            <a:r>
              <a:t>Inference-cost exposure, not model capability, blocks many useful consumer AI products.</a:t>
            </a:r>
          </a:p>
        </p:txBody>
      </p:sp>
      <p:pic>
        <p:nvPicPr>
          <p:cNvPr id="5" name="Picture 4" descr="cost_sp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4526280" cy="2606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17320"/>
            <a:ext cx="1874519" cy="324612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73152" cy="3246120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Developer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1554479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A successful launch can become an immediate API bill 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1874519" cy="324612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88920" y="1417320"/>
            <a:ext cx="73152" cy="3246120"/>
          </a:xfrm>
          <a:prstGeom prst="roundRect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581912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BYOK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984248"/>
            <a:ext cx="1554479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Ordinary users do not understand API keys, token pricing, or provider dashboards.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417320"/>
            <a:ext cx="1874519" cy="324612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46320" y="1417320"/>
            <a:ext cx="73152" cy="32461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47488" y="1581912"/>
            <a:ext cx="15544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Credit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984248"/>
            <a:ext cx="1554479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0">
                <a:solidFill>
                  <a:srgbClr val="CBD5E1"/>
                </a:solidFill>
                <a:latin typeface="Aptos"/>
              </a:defRPr>
            </a:pPr>
            <a:r>
              <a:t>Custom app credits add engineering overhead, support burden, and payment friction.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Aptos Display"/>
              </a:defRPr>
            </a:pPr>
            <a:r>
              <a:t>The ecosystem needs a standardized way to route bounded AI resource usage to the user’s existing provider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THE MISSING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AI lacks a consumer-grade delegation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2011680" cy="502920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73152" cy="50292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49047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1325880"/>
            <a:ext cx="4069080" cy="502920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16936" y="1325880"/>
            <a:ext cx="73152" cy="50292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8104" y="149047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Delegation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2592" y="1325880"/>
            <a:ext cx="4389120" cy="502920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22592" y="1325880"/>
            <a:ext cx="73152" cy="50292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490472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What the user authorizes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947672"/>
            <a:ext cx="20116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7" y="2066543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CBD5E1"/>
                </a:solidFill>
                <a:latin typeface="Aptos"/>
              </a:defRPr>
            </a:pPr>
            <a:r>
              <a:t>Music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16936" y="1947672"/>
            <a:ext cx="40690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26664" y="2066543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Provider account 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1947672"/>
            <a:ext cx="438912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2066543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Third-party app playback or playlist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624328"/>
            <a:ext cx="20116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7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CBD5E1"/>
                </a:solidFill>
                <a:latin typeface="Aptos"/>
              </a:defRPr>
            </a:pPr>
            <a:r>
              <a:t>Cloud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16936" y="2624328"/>
            <a:ext cx="40690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26664" y="274320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Scoped app authorization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22592" y="2624328"/>
            <a:ext cx="438912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27432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Access to selected files, folders, or account scopes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300984"/>
            <a:ext cx="20116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7" y="341985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CBD5E1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16936" y="3300984"/>
            <a:ext cx="406908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26664" y="341985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Bounded account-linked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2592" y="3300984"/>
            <a:ext cx="4389120" cy="548640"/>
          </a:xfrm>
          <a:prstGeom prst="roundRect">
            <a:avLst/>
          </a:prstGeom>
          <a:solidFill>
            <a:srgbClr val="111827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341985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Explicit permission for a financial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3977639"/>
            <a:ext cx="2011680" cy="548640"/>
          </a:xfrm>
          <a:prstGeom prst="roundRect">
            <a:avLst/>
          </a:prstGeom>
          <a:solidFill>
            <a:srgbClr val="1A10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7" y="409651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t>AI APIs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16936" y="3977639"/>
            <a:ext cx="4069080" cy="548640"/>
          </a:xfrm>
          <a:prstGeom prst="roundRect">
            <a:avLst/>
          </a:prstGeom>
          <a:solidFill>
            <a:srgbClr val="1A10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26664" y="4096511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Developer usually pays inference cost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22592" y="3977639"/>
            <a:ext cx="4389120" cy="548640"/>
          </a:xfrm>
          <a:prstGeom prst="roundRect">
            <a:avLst/>
          </a:prstGeom>
          <a:solidFill>
            <a:srgbClr val="1A10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409651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No standard user-authorized resource delegation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 Display"/>
              </a:defRPr>
            </a:pPr>
            <a:r>
              <a:t>ABDS proposes the missing delegation layer between consumer AI subscriptions and third-party AI applications.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ABDS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ABDS lets users authorize bounded third-party consumption of provider-defined AI resource units, enforced through provider-side grants, short-lived execution tokens, usage ledgers, revocation controls, and explicit economic consent.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08960"/>
            <a:ext cx="2057400" cy="1874519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3108960"/>
            <a:ext cx="73152" cy="1874519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27355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675887"/>
            <a:ext cx="173736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User sees economic consequence before approval</a:t>
            </a:r>
          </a:p>
        </p:txBody>
      </p:sp>
      <p:sp>
        <p:nvSpPr>
          <p:cNvPr id="10" name="Oval 9"/>
          <p:cNvSpPr/>
          <p:nvPr/>
        </p:nvSpPr>
        <p:spPr>
          <a:xfrm>
            <a:off x="2130552" y="3264408"/>
            <a:ext cx="438912" cy="438912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30552" y="333756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108960"/>
            <a:ext cx="2057400" cy="1874519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71800" y="3108960"/>
            <a:ext cx="73152" cy="1874519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327355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Grant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3675887"/>
            <a:ext cx="173736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Provider creates bounded delegated grant</a:t>
            </a:r>
          </a:p>
        </p:txBody>
      </p:sp>
      <p:sp>
        <p:nvSpPr>
          <p:cNvPr id="16" name="Oval 15"/>
          <p:cNvSpPr/>
          <p:nvPr/>
        </p:nvSpPr>
        <p:spPr>
          <a:xfrm>
            <a:off x="4416552" y="3264408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2" y="333756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3108960"/>
            <a:ext cx="2057400" cy="1874519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57800" y="3108960"/>
            <a:ext cx="73152" cy="1874519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8968" y="327355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3675887"/>
            <a:ext cx="173736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Short-lived credential references the grant</a:t>
            </a:r>
          </a:p>
        </p:txBody>
      </p:sp>
      <p:sp>
        <p:nvSpPr>
          <p:cNvPr id="22" name="Oval 21"/>
          <p:cNvSpPr/>
          <p:nvPr/>
        </p:nvSpPr>
        <p:spPr>
          <a:xfrm>
            <a:off x="6702552" y="3264408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02552" y="333756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108960"/>
            <a:ext cx="2057400" cy="1874519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43800" y="3108960"/>
            <a:ext cx="73152" cy="1874519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8" y="327355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3675887"/>
            <a:ext cx="173736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Provider records authoritative usage</a:t>
            </a:r>
          </a:p>
        </p:txBody>
      </p:sp>
      <p:sp>
        <p:nvSpPr>
          <p:cNvPr id="28" name="Oval 27"/>
          <p:cNvSpPr/>
          <p:nvPr/>
        </p:nvSpPr>
        <p:spPr>
          <a:xfrm>
            <a:off x="8988552" y="3264408"/>
            <a:ext cx="438912" cy="438912"/>
          </a:xfrm>
          <a:prstGeom prst="ellipse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88552" y="333756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3108960"/>
            <a:ext cx="2057400" cy="1874519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29800" y="3108960"/>
            <a:ext cx="73152" cy="1874519"/>
          </a:xfrm>
          <a:prstGeom prst="roundRect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30968" y="327355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Revoke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3675887"/>
            <a:ext cx="1737360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User can withdraw access at any time</a:t>
            </a:r>
          </a:p>
        </p:txBody>
      </p:sp>
      <p:sp>
        <p:nvSpPr>
          <p:cNvPr id="34" name="Oval 33"/>
          <p:cNvSpPr/>
          <p:nvPr/>
        </p:nvSpPr>
        <p:spPr>
          <a:xfrm>
            <a:off x="11274552" y="3264408"/>
            <a:ext cx="438912" cy="438912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274552" y="3337560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The four-object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143000"/>
            <a:ext cx="566928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143000"/>
            <a:ext cx="73152" cy="77724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307592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User Subscription Entitlement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709928"/>
            <a:ext cx="5349240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The user’s underlying provider account or plan. Root economic relationship.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1929384"/>
            <a:ext cx="0" cy="27432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796383" y="2134219"/>
            <a:ext cx="44097" cy="69485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2134219"/>
            <a:ext cx="44096" cy="69485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51560" y="2313432"/>
            <a:ext cx="566928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2313432"/>
            <a:ext cx="73152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52728" y="2478024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Delegated AI Grant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2880360"/>
            <a:ext cx="5349240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Server-side provider record defining app, user, cap, model scope, period, status.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099816"/>
            <a:ext cx="0" cy="27432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796383" y="3304651"/>
            <a:ext cx="44097" cy="69485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40480" y="3304651"/>
            <a:ext cx="44096" cy="69485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51560" y="3483864"/>
            <a:ext cx="566928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1560" y="3483864"/>
            <a:ext cx="73152" cy="7772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2728" y="3648456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Short-lived Execution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050791"/>
            <a:ext cx="5349240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OAuth access token carrying identity, audience, scope, jti, and delegation_id.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4270248"/>
            <a:ext cx="0" cy="27432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796383" y="4475083"/>
            <a:ext cx="44097" cy="69485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40480" y="4475083"/>
            <a:ext cx="44096" cy="69485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1560" y="4654296"/>
            <a:ext cx="5669280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1560" y="4654296"/>
            <a:ext cx="73152" cy="777240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52728" y="4818888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Provider-side Usage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5221224"/>
            <a:ext cx="5349240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Authoritative record of usage, reservations, settlement, audit, and enforcement.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417320"/>
            <a:ext cx="3749039" cy="3337560"/>
          </a:xfrm>
          <a:prstGeom prst="roundRect">
            <a:avLst/>
          </a:prstGeom>
          <a:solidFill>
            <a:srgbClr val="1A10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52360" y="1417320"/>
            <a:ext cx="73152" cy="3337560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53528" y="1581912"/>
            <a:ext cx="34289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Critical design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8" y="1984248"/>
            <a:ext cx="342899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The token identifies the grant. It does not carry quota state.</a:t>
            </a:r>
            <a:br/>
            <a:br/>
            <a:r>
              <a:t>Quota truth lives in the provider grant and usage ledger, exposed through the Usage Introspection Endpoint.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07492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ptos"/>
              </a:defRPr>
            </a:pPr>
            <a:r>
              <a:t>This separation is what makes ABDS credible as a standards proposal.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STANDARDS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ABDS should be an OAuth 2.0 profile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ptos"/>
              </a:defRPr>
            </a:pPr>
            <a:r>
              <a:t>It should reuse proven OAuth patterns rather than introduce a new authentication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977639" cy="43891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73152" cy="438912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673351"/>
            <a:ext cx="36575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ABDS Delegation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3977639" cy="43891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075688"/>
            <a:ext cx="73152" cy="438912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240280"/>
            <a:ext cx="36575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OAuth Token Exchange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42615"/>
            <a:ext cx="3977639" cy="43891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2642615"/>
            <a:ext cx="73152" cy="43891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2807208"/>
            <a:ext cx="36575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Resource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09544"/>
            <a:ext cx="3977639" cy="43891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209544"/>
            <a:ext cx="73152" cy="438912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374136"/>
            <a:ext cx="36575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Authorization Code + PKCE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76472"/>
            <a:ext cx="3977639" cy="43891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776472"/>
            <a:ext cx="73152" cy="438912"/>
          </a:xfrm>
          <a:prstGeom prst="roundRect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941063"/>
            <a:ext cx="36575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Revocation + Connected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1481328"/>
            <a:ext cx="2834640" cy="411480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57800" y="1481328"/>
            <a:ext cx="73152" cy="41148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58968" y="16459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t>ABDS function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481328"/>
            <a:ext cx="2834640" cy="411480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0" y="1481328"/>
            <a:ext cx="73152" cy="41148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30768" y="16459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t>Standards-aligned pattern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011680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67528" y="2103120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1">
                <a:solidFill>
                  <a:srgbClr val="CBD5E1"/>
                </a:solidFill>
                <a:latin typeface="Aptos"/>
              </a:defRPr>
            </a:pPr>
            <a:r>
              <a:t>User authorization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011680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0">
                <a:solidFill>
                  <a:srgbClr val="CBD5E1"/>
                </a:solidFill>
                <a:latin typeface="Aptos"/>
              </a:defRPr>
            </a:pPr>
            <a:r>
              <a:t>Authorization Code Flow with PKCE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2542032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67528" y="263347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1">
                <a:solidFill>
                  <a:srgbClr val="CBD5E1"/>
                </a:solidFill>
                <a:latin typeface="Aptos"/>
              </a:defRPr>
            </a:pPr>
            <a:r>
              <a:t>Execution-token issuance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542032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39327" y="2633472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0">
                <a:solidFill>
                  <a:srgbClr val="CBD5E1"/>
                </a:solidFill>
                <a:latin typeface="Aptos"/>
              </a:defRPr>
            </a:pPr>
            <a:r>
              <a:t>OAuth Token Exchange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3072384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67528" y="3163824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1">
                <a:solidFill>
                  <a:srgbClr val="CBD5E1"/>
                </a:solidFill>
                <a:latin typeface="Aptos"/>
              </a:defRPr>
            </a:pPr>
            <a:r>
              <a:t>Target API binding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072384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7" y="3163824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0">
                <a:solidFill>
                  <a:srgbClr val="CBD5E1"/>
                </a:solidFill>
                <a:latin typeface="Aptos"/>
              </a:defRPr>
            </a:pPr>
            <a:r>
              <a:t>Resource Indicators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3602736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67528" y="3694176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1">
                <a:solidFill>
                  <a:srgbClr val="CBD5E1"/>
                </a:solidFill>
                <a:latin typeface="Aptos"/>
              </a:defRPr>
            </a:pPr>
            <a:r>
              <a:t>User withdrawal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602736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39327" y="3694176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0">
                <a:solidFill>
                  <a:srgbClr val="CBD5E1"/>
                </a:solidFill>
                <a:latin typeface="Aptos"/>
              </a:defRPr>
            </a:pPr>
            <a:r>
              <a:t>Token revocation + connected-app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57800" y="4133087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67528" y="4224527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1">
                <a:solidFill>
                  <a:srgbClr val="CBD5E1"/>
                </a:solidFill>
                <a:latin typeface="Aptos"/>
              </a:defRPr>
            </a:pPr>
            <a:r>
              <a:t>App trust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4133087"/>
            <a:ext cx="2834640" cy="402336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39327" y="4224527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40" b="0">
                <a:solidFill>
                  <a:srgbClr val="CBD5E1"/>
                </a:solidFill>
                <a:latin typeface="Aptos"/>
              </a:defRPr>
            </a:pPr>
            <a:r>
              <a:t>Developer registration / verification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 b="1">
                <a:solidFill>
                  <a:srgbClr val="F8FAFC"/>
                </a:solidFill>
                <a:latin typeface="Aptos Display"/>
              </a:defRPr>
            </a:pPr>
            <a:r>
              <a:t>Strategic objective: interoperability. Reuse identity infrastructure and define only the AI-specific delegation layer.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TECHNICAL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Mutable quota state does not belong in JWT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4937760" cy="443484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73152" cy="44348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307592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Execution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46177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Identity, audience, expiry, scope, jti, delegation_id, model_scope.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3434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"iss": "https://auth.provider.com",</a:t>
            </a:r>
            <a:br/>
            <a:r>
              <a:t>  "aud": "https://api.provider.com",</a:t>
            </a:r>
            <a:br/>
            <a:r>
              <a:t>  "sub": "user_id",</a:t>
            </a:r>
            <a:br/>
            <a:r>
              <a:t>  "jti": "tok_xyz789",</a:t>
            </a:r>
            <a:br/>
            <a:r>
              <a:t>  "delegation_id": "del_abc123"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1363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97066"/>
                </a:solidFill>
                <a:latin typeface="Aptos"/>
              </a:defRPr>
            </a:pPr>
            <a:r>
              <a:t>× quota_used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20624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97066"/>
                </a:solidFill>
                <a:latin typeface="Aptos"/>
              </a:defRPr>
            </a:pPr>
            <a:r>
              <a:t>× quota_remaining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49884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97066"/>
                </a:solidFill>
                <a:latin typeface="Aptos"/>
              </a:defRPr>
            </a:pPr>
            <a:r>
              <a:t>× quota_cap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79145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1">
                <a:solidFill>
                  <a:srgbClr val="F97066"/>
                </a:solidFill>
                <a:latin typeface="Aptos"/>
              </a:defRPr>
            </a:pPr>
            <a:r>
              <a:t>× quota_reset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43000"/>
            <a:ext cx="4937760" cy="443484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1143000"/>
            <a:ext cx="73152" cy="4434840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1307592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Provider Usage 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709928"/>
            <a:ext cx="46177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Authoritative accounting and enforcement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delegation_id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4086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quota_cap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700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quota_used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99923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quota_remaining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32841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quota_period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65760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quota_reset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98678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1">
                <a:solidFill>
                  <a:srgbClr val="32D583"/>
                </a:solidFill>
                <a:latin typeface="Aptos"/>
              </a:defRPr>
            </a:pPr>
            <a:r>
              <a:t>✓ grant_status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31596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20" b="0">
                <a:solidFill>
                  <a:srgbClr val="00C2FF"/>
                </a:solidFill>
                <a:latin typeface="Aptos"/>
              </a:defRPr>
            </a:pPr>
            <a:r>
              <a:t>✓ usage_receipts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06440" y="3291840"/>
            <a:ext cx="502920" cy="0"/>
          </a:xfrm>
          <a:prstGeom prst="line">
            <a:avLst/>
          </a:prstGeom>
          <a:ln w="317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239875" y="3291840"/>
            <a:ext cx="69485" cy="44096"/>
          </a:xfrm>
          <a:prstGeom prst="line">
            <a:avLst/>
          </a:prstGeom>
          <a:ln w="317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6239875" y="3247743"/>
            <a:ext cx="69485" cy="44097"/>
          </a:xfrm>
          <a:prstGeom prst="line">
            <a:avLst/>
          </a:prstGeom>
          <a:ln w="317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11931" y="575711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/>
              <a:t>Token references grant.</a:t>
            </a:r>
            <a:br>
              <a:rPr dirty="0"/>
            </a:br>
            <a:r>
              <a:rPr dirty="0"/>
              <a:t>Ledger determines truth.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EXECUTION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Provider-enforced execution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211226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96596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66544" y="211226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Client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14300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128930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Authorization</a:t>
            </a:r>
            <a:br/>
            <a:r>
              <a:t>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14300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4103" y="128930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Delegated</a:t>
            </a:r>
            <a:br/>
            <a:r>
              <a:t>Grant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14300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FDB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41464" y="128930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Token</a:t>
            </a:r>
            <a:br/>
            <a:r>
              <a:t>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29184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6864" y="343814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AI API</a:t>
            </a:r>
            <a:br/>
            <a:r>
              <a:t>Gateway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29184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32D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2824" y="343814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Usage</a:t>
            </a:r>
            <a:br/>
            <a:r>
              <a:t>Ledger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291840"/>
            <a:ext cx="1261872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5944" y="3438144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0" b="1">
                <a:solidFill>
                  <a:srgbClr val="F8FAFC"/>
                </a:solidFill>
                <a:latin typeface="Aptos"/>
              </a:defRPr>
            </a:pPr>
            <a:r>
              <a:t>Inference</a:t>
            </a:r>
            <a:br/>
            <a:r>
              <a:t>Engine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313432"/>
            <a:ext cx="210312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923907" y="2313432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923907" y="2269335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796795" y="2203703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96795" y="227685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273552" y="1783080"/>
            <a:ext cx="402335" cy="530352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669023" y="1783080"/>
            <a:ext cx="6864" cy="82009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598761" y="1783080"/>
            <a:ext cx="77126" cy="2870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383279" y="1938527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79" y="2011679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82896" y="1499616"/>
            <a:ext cx="466344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279755" y="1499616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279755" y="1455519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024628" y="1389888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4628" y="1463040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11112" y="1499616"/>
            <a:ext cx="475488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017115" y="1499616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7017115" y="1455519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757416" y="1389888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57416" y="1463040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4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5212080" y="1847088"/>
            <a:ext cx="2505456" cy="1444752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212080" y="3218929"/>
            <a:ext cx="38166" cy="72911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12080" y="3291840"/>
            <a:ext cx="82221" cy="3489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373368" y="2459736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3368" y="2532888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33872" y="3639312"/>
            <a:ext cx="704088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468475" y="3639312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6468475" y="3595215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094476" y="3529584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94476" y="360273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6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818120" y="3639312"/>
            <a:ext cx="822960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8571595" y="3639312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8571595" y="3595215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138160" y="3529584"/>
            <a:ext cx="219456" cy="21945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38160" y="3602736"/>
            <a:ext cx="2194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4892040"/>
            <a:ext cx="10424160" cy="749808"/>
          </a:xfrm>
          <a:prstGeom prst="roundRect">
            <a:avLst/>
          </a:prstGeom>
          <a:solidFill>
            <a:srgbClr val="0B12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68680" y="4892040"/>
            <a:ext cx="73152" cy="749808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9848" y="5056631"/>
            <a:ext cx="10104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Gateway enforcement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" y="5458968"/>
            <a:ext cx="10104120" cy="64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The API gateway resolves delegation_id, validates token audience and scope, checks grant status, records usage against the ledger, and only then forwards permitted requests to the inference engine.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USER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Economic consent must be explicit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143000"/>
            <a:ext cx="557784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4173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0B1020"/>
                </a:solidFill>
                <a:latin typeface="Aptos Display"/>
              </a:defRPr>
            </a:pPr>
            <a:r>
              <a:t>Authorize AI Resource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87451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Aptos"/>
              </a:defRPr>
            </a:pPr>
            <a:r>
              <a:t>Translation Studio by example.com wants permission to use a bounded portion of your AI account allowance.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  <a:latin typeface="Aptos"/>
              </a:defRPr>
            </a:pPr>
            <a:r>
              <a:t>Verified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542032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Aptos"/>
              </a:defRPr>
            </a:pPr>
            <a:r>
              <a:t>Translation Studio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2514600"/>
            <a:ext cx="128016" cy="128016"/>
          </a:xfrm>
          <a:prstGeom prst="ellipse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06440" y="2587752"/>
            <a:ext cx="128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98094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80944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Aptos"/>
              </a:defRPr>
            </a:pPr>
            <a:r>
              <a:t>example.com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2953512"/>
            <a:ext cx="128016" cy="128016"/>
          </a:xfrm>
          <a:prstGeom prst="ellipse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3026664"/>
            <a:ext cx="128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419856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  <a:latin typeface="Aptos"/>
              </a:defRPr>
            </a:pPr>
            <a:r>
              <a:t>Quota 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41985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Aptos"/>
              </a:defRPr>
            </a:pPr>
            <a:r>
              <a:t>500,000 standard text units / month</a:t>
            </a:r>
          </a:p>
        </p:txBody>
      </p:sp>
      <p:sp>
        <p:nvSpPr>
          <p:cNvPr id="18" name="Oval 17"/>
          <p:cNvSpPr/>
          <p:nvPr/>
        </p:nvSpPr>
        <p:spPr>
          <a:xfrm>
            <a:off x="5806440" y="3392424"/>
            <a:ext cx="128016" cy="12801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3465576"/>
            <a:ext cx="128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858768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  <a:latin typeface="Aptos"/>
              </a:defRPr>
            </a:pPr>
            <a:r>
              <a:t>Model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85876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Aptos"/>
              </a:defRPr>
            </a:pPr>
            <a:r>
              <a:t>Standard text models only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3831335"/>
            <a:ext cx="128016" cy="12801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06440" y="3904487"/>
            <a:ext cx="128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4297679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50" b="1">
                <a:solidFill>
                  <a:srgbClr val="64748B"/>
                </a:solidFill>
                <a:latin typeface="Aptos"/>
              </a:defRPr>
            </a:pPr>
            <a:r>
              <a:t>Renewal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297679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Aptos"/>
              </a:defRPr>
            </a:pPr>
            <a:r>
              <a:t>Monthly until revoked</a:t>
            </a:r>
          </a:p>
        </p:txBody>
      </p:sp>
      <p:sp>
        <p:nvSpPr>
          <p:cNvPr id="26" name="Oval 25"/>
          <p:cNvSpPr/>
          <p:nvPr/>
        </p:nvSpPr>
        <p:spPr>
          <a:xfrm>
            <a:off x="5806440" y="4270247"/>
            <a:ext cx="128016" cy="12801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6440" y="4343399"/>
            <a:ext cx="128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70A13"/>
                </a:solidFill>
                <a:latin typeface="Aptos Display"/>
              </a:defRPr>
            </a:pPr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43000" y="4983480"/>
            <a:ext cx="2011680" cy="4114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07592" y="5093208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60" b="1">
                <a:solidFill>
                  <a:srgbClr val="F8FAFC"/>
                </a:solidFill>
                <a:latin typeface="Aptos"/>
              </a:defRPr>
            </a:pPr>
            <a:r>
              <a:t>Allow bounded 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983480"/>
            <a:ext cx="1371600" cy="411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85032" y="509320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60" b="1">
                <a:solidFill>
                  <a:srgbClr val="0B1020"/>
                </a:solidFill>
                <a:latin typeface="Aptos"/>
              </a:defRPr>
            </a:pPr>
            <a:r>
              <a:t>Cancel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1325880"/>
            <a:ext cx="4114800" cy="416052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903720" y="1325880"/>
            <a:ext cx="73152" cy="416052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04888" y="149047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Consent requirements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1892807"/>
            <a:ext cx="3794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Verified app and developer identity</a:t>
            </a:r>
            <a:br/>
            <a:br/>
            <a:r>
              <a:t>Concrete quota cap and reset period</a:t>
            </a:r>
            <a:br/>
            <a:br/>
            <a:r>
              <a:t>Model class and renewal behaviour</a:t>
            </a:r>
            <a:br/>
            <a:br/>
            <a:r>
              <a:t>Plain-language account impact</a:t>
            </a:r>
            <a:br/>
            <a:br/>
            <a:r>
              <a:t>Clear revocation path and warnings for unverified apps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CLIENT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Sensitive AI execution tokens should not live in the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74320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73152" cy="105156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Browser / mobile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92807"/>
            <a:ext cx="2423160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Opaque secure session only. No ABDS refresh tokens or execution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25880"/>
            <a:ext cx="283464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73152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14904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App backend / BFF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892807"/>
            <a:ext cx="2514600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Stores provider credentials server-side and performs token exchange.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325880"/>
            <a:ext cx="29260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1325880"/>
            <a:ext cx="73152" cy="1051560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149047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AI provider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1892807"/>
            <a:ext cx="2606040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Receives short-lived execution token and enforces grant/ledger constraints.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1847088"/>
            <a:ext cx="960120" cy="0"/>
          </a:xfrm>
          <a:prstGeom prst="line">
            <a:avLst/>
          </a:prstGeom>
          <a:ln w="2794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456795" y="1847088"/>
            <a:ext cx="69485" cy="44096"/>
          </a:xfrm>
          <a:prstGeom prst="line">
            <a:avLst/>
          </a:prstGeom>
          <a:ln w="2794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456795" y="1802991"/>
            <a:ext cx="69485" cy="44097"/>
          </a:xfrm>
          <a:prstGeom prst="line">
            <a:avLst/>
          </a:prstGeom>
          <a:ln w="2794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1847088"/>
            <a:ext cx="960120" cy="0"/>
          </a:xfrm>
          <a:prstGeom prst="line">
            <a:avLst/>
          </a:prstGeom>
          <a:ln w="2794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297275" y="1847088"/>
            <a:ext cx="69485" cy="44096"/>
          </a:xfrm>
          <a:prstGeom prst="line">
            <a:avLst/>
          </a:prstGeom>
          <a:ln w="2794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297275" y="1802991"/>
            <a:ext cx="69485" cy="44097"/>
          </a:xfrm>
          <a:prstGeom prst="line">
            <a:avLst/>
          </a:prstGeom>
          <a:ln w="2794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00600" y="2880360"/>
            <a:ext cx="2331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31546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Encrypted</a:t>
            </a:r>
            <a:br/>
            <a:r>
              <a:t>server-side token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71032" y="2386584"/>
            <a:ext cx="0" cy="493776"/>
          </a:xfrm>
          <a:prstGeom prst="line">
            <a:avLst/>
          </a:prstGeom>
          <a:ln w="2159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480060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ptos Display"/>
              </a:defRPr>
            </a:pPr>
            <a:r>
              <a:t>Recommended pattern: browsers receive only an opaque HttpOnly Secure session cookie. Refresh tokens and execution tokens remain on the application server and are never exposed to JavaScript-accessible storage.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RESOURCE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Streaming and agentic workloads need reservation semantics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194560"/>
            <a:ext cx="1143000" cy="11430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39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Predict maximum resource envelope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761488"/>
            <a:ext cx="1051560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130915" y="2761488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130915" y="2717391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200400" y="2194560"/>
            <a:ext cx="1143000" cy="11430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Reserve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520439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Place temporary hold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2761488"/>
            <a:ext cx="1051560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325475" y="2761488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5325475" y="2717391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394960" y="2194560"/>
            <a:ext cx="1143000" cy="11430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13832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520439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Run or stream within bounds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37960" y="2761488"/>
            <a:ext cx="1051560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520035" y="2761488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520035" y="2717391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589520" y="2194560"/>
            <a:ext cx="1143000" cy="11430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32D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08392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Settle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520439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Record actual usage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32520" y="2761488"/>
            <a:ext cx="1051560" cy="0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714595" y="2761488"/>
            <a:ext cx="69485" cy="44096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714595" y="2717391"/>
            <a:ext cx="69485" cy="44097"/>
          </a:xfrm>
          <a:prstGeom prst="line">
            <a:avLst/>
          </a:prstGeom>
          <a:ln w="2286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784080" y="2194560"/>
            <a:ext cx="1143000" cy="11430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DB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02952" y="25146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520439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ptos"/>
              </a:defRPr>
            </a:pPr>
            <a:r>
              <a:t>Return unused hold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800600"/>
            <a:ext cx="4572000" cy="685800"/>
          </a:xfrm>
          <a:prstGeom prst="roundRect">
            <a:avLst/>
          </a:prstGeom>
          <a:solidFill>
            <a:srgbClr val="1A10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1560" y="4800600"/>
            <a:ext cx="73152" cy="685800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52728" y="496519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Error semantics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5367528"/>
            <a:ext cx="4251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Insufficient delegated quota should return HTTP 429, not HTTP 402.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0760" y="4800600"/>
            <a:ext cx="457200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60" y="4800600"/>
            <a:ext cx="73152" cy="68580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81928" y="496519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Standards posture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5367528"/>
            <a:ext cx="4251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Reservation/settlement should be a v0.3 profile for streaming, batch, multimodal and agentic workloads.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PROVIDER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Ecosystem expansion, not free compute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ptos"/>
              </a:defRPr>
            </a:pPr>
            <a:r>
              <a:t>ABDS gives providers controlled delegation while reducing developer-side launch risk.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965960"/>
            <a:ext cx="1347951" cy="979344"/>
          </a:xfrm>
          <a:prstGeom prst="line">
            <a:avLst/>
          </a:prstGeom>
          <a:ln w="14604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913839" y="2945304"/>
            <a:ext cx="514872" cy="1584611"/>
          </a:xfrm>
          <a:prstGeom prst="line">
            <a:avLst/>
          </a:prstGeom>
          <a:ln w="14604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247680" y="4529915"/>
            <a:ext cx="1666159" cy="0"/>
          </a:xfrm>
          <a:prstGeom prst="line">
            <a:avLst/>
          </a:prstGeom>
          <a:ln w="14604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4732808" y="2945304"/>
            <a:ext cx="514872" cy="1584611"/>
          </a:xfrm>
          <a:prstGeom prst="line">
            <a:avLst/>
          </a:prstGeom>
          <a:ln w="14604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732808" y="1965960"/>
            <a:ext cx="1347952" cy="979344"/>
          </a:xfrm>
          <a:prstGeom prst="line">
            <a:avLst/>
          </a:prstGeom>
          <a:ln w="14604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58968" y="1636776"/>
            <a:ext cx="1243584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13832" y="1773936"/>
            <a:ext cx="11338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1">
                <a:solidFill>
                  <a:srgbClr val="F8FAFC"/>
                </a:solidFill>
                <a:latin typeface="Aptos"/>
              </a:defRPr>
            </a:pPr>
            <a:r>
              <a:t>Lower</a:t>
            </a:r>
            <a:br/>
            <a:r>
              <a:t>developer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06919" y="2616120"/>
            <a:ext cx="1243584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1783" y="2753280"/>
            <a:ext cx="11338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1">
                <a:solidFill>
                  <a:srgbClr val="F8FAFC"/>
                </a:solidFill>
                <a:latin typeface="Aptos"/>
              </a:defRPr>
            </a:pPr>
            <a:r>
              <a:t>More consumer</a:t>
            </a:r>
            <a:br/>
            <a:r>
              <a:t>AI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2047" y="4200731"/>
            <a:ext cx="1243584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6911" y="4337891"/>
            <a:ext cx="11338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1">
                <a:solidFill>
                  <a:srgbClr val="F8FAFC"/>
                </a:solidFill>
                <a:latin typeface="Aptos"/>
              </a:defRPr>
            </a:pPr>
            <a:r>
              <a:t>More subscription</a:t>
            </a:r>
            <a:br/>
            <a:r>
              <a:t>utility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5888" y="4200731"/>
            <a:ext cx="1243584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32D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0752" y="4337891"/>
            <a:ext cx="11338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1">
                <a:solidFill>
                  <a:srgbClr val="F8FAFC"/>
                </a:solidFill>
                <a:latin typeface="Aptos"/>
              </a:defRPr>
            </a:pPr>
            <a:r>
              <a:t>Higher</a:t>
            </a:r>
            <a:br/>
            <a:r>
              <a:t>retention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1016" y="2616120"/>
            <a:ext cx="1243584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FDB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5880" y="2753280"/>
            <a:ext cx="113385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1">
                <a:solidFill>
                  <a:srgbClr val="F8FAFC"/>
                </a:solidFill>
                <a:latin typeface="Aptos"/>
              </a:defRPr>
            </a:pPr>
            <a:r>
              <a:t>Stronger provider</a:t>
            </a:r>
            <a:br/>
            <a:r>
              <a:t>ecosystem</a:t>
            </a:r>
          </a:p>
        </p:txBody>
      </p:sp>
      <p:sp>
        <p:nvSpPr>
          <p:cNvPr id="20" name="Oval 19"/>
          <p:cNvSpPr/>
          <p:nvPr/>
        </p:nvSpPr>
        <p:spPr>
          <a:xfrm>
            <a:off x="5330952" y="2834640"/>
            <a:ext cx="1499616" cy="1133856"/>
          </a:xfrm>
          <a:prstGeom prst="ellipse">
            <a:avLst/>
          </a:prstGeom>
          <a:solidFill>
            <a:srgbClr val="102033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58968" y="3127248"/>
            <a:ext cx="1243584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  <a:latin typeface="Aptos"/>
              </a:defRPr>
            </a:pPr>
            <a:r>
              <a:t>ABDS</a:t>
            </a:r>
            <a:br/>
            <a:r>
              <a:t>first-mover</a:t>
            </a:r>
            <a:br/>
            <a:r>
              <a:t>advantage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1627632"/>
            <a:ext cx="2788920" cy="297180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1627632"/>
            <a:ext cx="73152" cy="2971800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1792224"/>
            <a:ext cx="24688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F8FAFC"/>
                </a:solidFill>
                <a:latin typeface="Aptos"/>
              </a:defRPr>
            </a:pPr>
            <a:r>
              <a:t>Provider control levers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194560"/>
            <a:ext cx="24688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19" b="0">
                <a:solidFill>
                  <a:srgbClr val="CBD5E1"/>
                </a:solidFill>
                <a:latin typeface="Aptos"/>
              </a:defRPr>
            </a:pPr>
            <a:r>
              <a:t>Delegated allowance separate from full subscription</a:t>
            </a:r>
            <a:br/>
            <a:br/>
            <a:r>
              <a:t>Model-tier restrictions</a:t>
            </a:r>
            <a:br/>
            <a:br/>
            <a:r>
              <a:t>Monthly caps and review thresholds</a:t>
            </a:r>
            <a:br/>
            <a:br/>
            <a:r>
              <a:t>Paid delegated add-ons</a:t>
            </a:r>
            <a:br/>
            <a:br/>
            <a:r>
              <a:t>Enterprise API lanes remain separate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1627632"/>
            <a:ext cx="2788920" cy="2971800"/>
          </a:xfrm>
          <a:prstGeom prst="roundRect">
            <a:avLst/>
          </a:prstGeom>
          <a:solidFill>
            <a:srgbClr val="1A10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732520" y="1627632"/>
            <a:ext cx="73152" cy="2971800"/>
          </a:xfrm>
          <a:prstGeom prst="roundRect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1792224"/>
            <a:ext cx="24688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50" b="1">
                <a:solidFill>
                  <a:srgbClr val="F8FAFC"/>
                </a:solidFill>
                <a:latin typeface="Aptos"/>
              </a:defRPr>
            </a:pPr>
            <a:r>
              <a:t>CFO objection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194560"/>
            <a:ext cx="246887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“This cannibalizes developer API revenue.”</a:t>
            </a:r>
            <a:br/>
            <a:br/>
            <a:r>
              <a:t>Counterargument: many consumer apps are not launching at all under the current billing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10195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 b="1">
                <a:solidFill>
                  <a:srgbClr val="F8FAFC"/>
                </a:solidFill>
                <a:latin typeface="Aptos Display"/>
              </a:defRPr>
            </a:pPr>
            <a:r>
              <a:t>Provider economics improve when bounded delegation expands the consumer app ecosystem without exposing enterprise API lanes.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ABDS must be abuse-resistant by design</a:t>
            </a:r>
          </a:p>
        </p:txBody>
      </p:sp>
      <p:pic>
        <p:nvPicPr>
          <p:cNvPr id="5" name="Picture 4" descr="threa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521208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188720"/>
            <a:ext cx="4617720" cy="356616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73152" cy="3566160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135331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Priority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755648"/>
            <a:ext cx="429768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Quota laundering and resale</a:t>
            </a:r>
            <a:br/>
            <a:br/>
            <a:r>
              <a:t>Consent phishing and spoofing</a:t>
            </a:r>
            <a:br/>
            <a:br/>
            <a:r>
              <a:t>Token replay and backend leaks</a:t>
            </a:r>
            <a:br/>
            <a:br/>
            <a:r>
              <a:t>Prompt-injection quota drain</a:t>
            </a:r>
            <a:br/>
            <a:br/>
            <a:r>
              <a:t>Bot-created delegations</a:t>
            </a:r>
            <a:br/>
            <a:br/>
            <a:r>
              <a:t>Model laundering through consumer subscriptions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t>Core mitigations: app verification, provider-side caps, risk scoring, rate limits, audit receipts, revocation dashboards, and proof-of-possession for higher-risk cases.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STANDARDS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From open proposal to standards candidate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926080"/>
            <a:ext cx="493776" cy="493776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v0.2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Core object model and token constraints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3172968"/>
            <a:ext cx="100584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170795" y="3172968"/>
            <a:ext cx="69485" cy="44096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170795" y="3128871"/>
            <a:ext cx="69485" cy="44097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267712" y="2926080"/>
            <a:ext cx="493776" cy="493776"/>
          </a:xfrm>
          <a:prstGeom prst="ellipse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67712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Threat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Abuse, fraud, and provider-risk 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0632" y="3172968"/>
            <a:ext cx="100584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706987" y="3172968"/>
            <a:ext cx="69485" cy="44096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706987" y="3128871"/>
            <a:ext cx="69485" cy="44097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03904" y="2926080"/>
            <a:ext cx="493776" cy="49377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3904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Consent UX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Economic consent and connected-app controls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06824" y="3172968"/>
            <a:ext cx="100584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243179" y="3172968"/>
            <a:ext cx="69485" cy="44096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243179" y="3128871"/>
            <a:ext cx="69485" cy="44097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340096" y="2926080"/>
            <a:ext cx="493776" cy="49377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0096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Reservation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Streaming, multimodal, batch, agentic accounting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43016" y="3172968"/>
            <a:ext cx="1005839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779371" y="3172968"/>
            <a:ext cx="69484" cy="44096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779371" y="3128871"/>
            <a:ext cx="69484" cy="44097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876288" y="2926080"/>
            <a:ext cx="493776" cy="493776"/>
          </a:xfrm>
          <a:prstGeom prst="ellipse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76288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Reference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Provider/app proof of feasibility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79208" y="3172968"/>
            <a:ext cx="100584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315563" y="3172968"/>
            <a:ext cx="69485" cy="44096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8315563" y="3128871"/>
            <a:ext cx="69485" cy="44097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412480" y="2926080"/>
            <a:ext cx="493776" cy="49377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Provider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AI platform, identity, and API gateway feedback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15400" y="3172968"/>
            <a:ext cx="1005840" cy="0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851755" y="3172968"/>
            <a:ext cx="69485" cy="44096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9851755" y="3128871"/>
            <a:ext cx="69485" cy="44097"/>
          </a:xfrm>
          <a:prstGeom prst="line">
            <a:avLst/>
          </a:prstGeom>
          <a:ln w="1905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948672" y="2926080"/>
            <a:ext cx="493776" cy="49377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48672" y="3063240"/>
            <a:ext cx="49377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70A1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22402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19" b="1">
                <a:solidFill>
                  <a:srgbClr val="F8FAFC"/>
                </a:solidFill>
                <a:latin typeface="Aptos"/>
              </a:defRPr>
            </a:pPr>
            <a:r>
              <a:t>IETF/OIDF Discussion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3584448"/>
            <a:ext cx="1508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19" b="0">
                <a:solidFill>
                  <a:srgbClr val="CBD5E1"/>
                </a:solidFill>
                <a:latin typeface="Aptos"/>
              </a:defRPr>
            </a:pPr>
            <a:r>
              <a:t>Candidate future standards 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5074920"/>
            <a:ext cx="996696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97280" y="5074920"/>
            <a:ext cx="73152" cy="68580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98448" y="5239512"/>
            <a:ext cx="9646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Positioning discipline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98448" y="5641848"/>
            <a:ext cx="964692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Say “candidate future IETF/OIDF discussion,” not “approved IETF draft.” ABDS should earn standards credibility through review, threat modelling, and reference implementation.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8686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Aptos Display"/>
              </a:defRPr>
            </a:pPr>
            <a:r>
              <a:t>Review the ABDS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Open technical review invited: OAuth, security, provider economics, resource accounting, and implementation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143000"/>
            <a:ext cx="283464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46304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345643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B1020"/>
                </a:solidFill>
                <a:latin typeface="Aptos"/>
              </a:defRPr>
            </a:pPr>
            <a:r>
              <a:t>github.com/MJohnstonAI/</a:t>
            </a:r>
            <a:br/>
            <a:r>
              <a:t>ai-billing-delegation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977639"/>
            <a:ext cx="6217920" cy="960120"/>
          </a:xfrm>
          <a:prstGeom prst="roundRect">
            <a:avLst/>
          </a:prstGeom>
          <a:solidFill>
            <a:srgbClr val="0B1220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73152" cy="96012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42231"/>
            <a:ext cx="5897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Closing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44568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ABDS is a proposed delegation layer between consumer AI subscriptions and third-party AI applications.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5332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Marc Johnston | NeuroSync AI Dynamics Pty Ltd | Cape Town, South Africa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 Display"/>
              </a:defRPr>
            </a:pPr>
            <a:r>
              <a:t>Technical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Reference material for reviewers, engineers, and standards contributors.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 |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Token and usage-introspection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525780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73152" cy="44805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30759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Execution token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709928"/>
            <a:ext cx="493776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Short-lived OAuth access token. References delegation_id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828800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19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"iss": "https://auth.provider.com",</a:t>
            </a:r>
            <a:br/>
            <a:r>
              <a:t>  "aud": "https://api.provider.com",</a:t>
            </a:r>
            <a:br/>
            <a:r>
              <a:t>  "sub": "user_id",</a:t>
            </a:r>
            <a:br/>
            <a:r>
              <a:t>  "exp": 1702592000,</a:t>
            </a:r>
            <a:br/>
            <a:r>
              <a:t>  "jti": "tok_xyz789",</a:t>
            </a:r>
            <a:br/>
            <a:r>
              <a:t>  "client_id": "app_123",</a:t>
            </a:r>
            <a:br/>
            <a:r>
              <a:t>  "delegation_id": "del_abc123",</a:t>
            </a:r>
            <a:br/>
            <a:r>
              <a:t>  "scope": "ai.inference.generate",</a:t>
            </a:r>
            <a:br/>
            <a:r>
              <a:t>  "model_scope": ["standard-text-only"],</a:t>
            </a:r>
            <a:br/>
            <a:r>
              <a:t>  "abds_version": "0.2"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143000"/>
            <a:ext cx="498348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143000"/>
            <a:ext cx="73152" cy="4480560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130759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Usage introspection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1709928"/>
            <a:ext cx="466344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Provider-authoritative quota state from /v1/quota.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1828800"/>
            <a:ext cx="45262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6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>  "delegation_id": "del_abc123",</a:t>
            </a:r>
            <a:br/>
            <a:r>
              <a:t>  "status": "active",</a:t>
            </a:r>
            <a:br/>
            <a:r>
              <a:t>  "quota_cap": 500000,</a:t>
            </a:r>
            <a:br/>
            <a:r>
              <a:t>  "quota_used": 125000,</a:t>
            </a:r>
            <a:br/>
            <a:r>
              <a:t>  "quota_remaining": 375000,</a:t>
            </a:r>
            <a:br/>
            <a:r>
              <a:t>  "quota_period": "monthly",</a:t>
            </a:r>
            <a:br/>
            <a:r>
              <a:t>  "quota_reset": "2026-07-01T00:00:00Z"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470916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Design rule: quota fields belong in grant/ledger/introspection, not in bearer-token claims.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 | Appendix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Threat model and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2377440" cy="438912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73152" cy="438912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5331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6392" y="1188720"/>
            <a:ext cx="3749039" cy="438912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36392" y="1188720"/>
            <a:ext cx="73152" cy="438912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353312"/>
            <a:ext cx="34289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Consequence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8583" y="1188720"/>
            <a:ext cx="4937760" cy="438912"/>
          </a:xfrm>
          <a:prstGeom prst="roundRect">
            <a:avLst/>
          </a:prstGeom>
          <a:solidFill>
            <a:srgbClr val="102033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58583" y="1188720"/>
            <a:ext cx="73152" cy="438912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9751" y="1353312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755648"/>
            <a:ext cx="237744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856231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AFC"/>
                </a:solidFill>
                <a:latin typeface="Aptos"/>
              </a:defRPr>
            </a:pPr>
            <a:r>
              <a:t>Token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36392" y="1755648"/>
            <a:ext cx="3749039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27832" y="1856231"/>
            <a:ext cx="356615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Delegated quota consumed by attacker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3" y="1755648"/>
            <a:ext cx="493776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0023" y="1856231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Short token lifetime, audience restriction, jti, optional DPoP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350008"/>
            <a:ext cx="237744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450591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AFC"/>
                </a:solidFill>
                <a:latin typeface="Aptos"/>
              </a:defRPr>
            </a:pPr>
            <a:r>
              <a:t>Quota laundering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6392" y="2350008"/>
            <a:ext cx="3749039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27832" y="2450591"/>
            <a:ext cx="356615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Consumer subscriptions used as wholesale API supply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58583" y="2350008"/>
            <a:ext cx="493776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0023" y="2450591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Velocity limits, app verification, aggregation detection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944368"/>
            <a:ext cx="237744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044951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AFC"/>
                </a:solidFill>
                <a:latin typeface="Aptos"/>
              </a:defRPr>
            </a:pPr>
            <a:r>
              <a:t>Consent phishing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36392" y="2944368"/>
            <a:ext cx="3749039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27832" y="3044951"/>
            <a:ext cx="356615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Users authorize malicious consumption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58583" y="2944368"/>
            <a:ext cx="493776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50023" y="3044951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Verified developers, warnings, step-up consent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38728"/>
            <a:ext cx="237744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363931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AFC"/>
                </a:solidFill>
                <a:latin typeface="Aptos"/>
              </a:defRPr>
            </a:pPr>
            <a:r>
              <a:t>Backend proxy abuse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36392" y="3538728"/>
            <a:ext cx="3749039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27832" y="3639312"/>
            <a:ext cx="356615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Legitimate app drains quota under attack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58583" y="3538728"/>
            <a:ext cx="493776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50023" y="363931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Backend rate limits, bot detection, per-delegation throttles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133087"/>
            <a:ext cx="237744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23367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AFC"/>
                </a:solidFill>
                <a:latin typeface="Aptos"/>
              </a:defRPr>
            </a:pPr>
            <a:r>
              <a:t>Prompt-injection drain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36392" y="4133087"/>
            <a:ext cx="3749039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27832" y="4233672"/>
            <a:ext cx="356615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Agentic loops consume unexpected quota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58583" y="4133087"/>
            <a:ext cx="493776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50023" y="42336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Budget caps, tool limits, stepwise settlement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727448"/>
            <a:ext cx="237744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82803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1">
                <a:solidFill>
                  <a:srgbClr val="F8FAFC"/>
                </a:solidFill>
                <a:latin typeface="Aptos"/>
              </a:defRPr>
            </a:pPr>
            <a:r>
              <a:t>Bot-created delegations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6392" y="4727448"/>
            <a:ext cx="3749039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27832" y="4828032"/>
            <a:ext cx="356615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Automated abuse at provider scale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58583" y="4727448"/>
            <a:ext cx="4937760" cy="475488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50023" y="482803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30" b="0">
                <a:solidFill>
                  <a:srgbClr val="CBD5E1"/>
                </a:solidFill>
                <a:latin typeface="Aptos"/>
              </a:defRPr>
            </a:pPr>
            <a:r>
              <a:t>Account trust scoring, verification, fraud detection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 | Appendix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28600"/>
            <a:ext cx="228600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69748"/>
            <a:ext cx="2103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00C2FF"/>
                </a:solidFill>
                <a:latin typeface="Aptos"/>
              </a:defRPr>
            </a:pPr>
            <a: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t>Open design questions for reviewers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983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73152" cy="868680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3990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Quota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01368"/>
            <a:ext cx="466344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Should ABDS standardize provider-defined units, or only the interface semantics?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4983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73152" cy="8686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3990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801368"/>
            <a:ext cx="466344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Should reservation/settlement be required for streaming or optional profile?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68880"/>
            <a:ext cx="4983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2468880"/>
            <a:ext cx="73152" cy="8686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63347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Enterprise ABDS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035808"/>
            <a:ext cx="466344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Should organizational delegation be a separate extension profile?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468880"/>
            <a:ext cx="4983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2468880"/>
            <a:ext cx="73152" cy="868680"/>
          </a:xfrm>
          <a:prstGeom prst="roundRect">
            <a:avLst/>
          </a:prstGeom>
          <a:solidFill>
            <a:srgbClr val="32D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263347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App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035808"/>
            <a:ext cx="466344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What quota thresholds require sensitive-scope style review?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4983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73152" cy="868680"/>
          </a:xfrm>
          <a:prstGeom prst="roundRect">
            <a:avLst/>
          </a:prstGeom>
          <a:solidFill>
            <a:srgbClr val="FDB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86791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Abuse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270248"/>
            <a:ext cx="466344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Should providers expose usage receipts to users, apps, or both?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03320"/>
            <a:ext cx="4983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4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73152" cy="8686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7" y="386791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Standards 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4270248"/>
            <a:ext cx="4663440" cy="182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19" b="0">
                <a:solidFill>
                  <a:srgbClr val="CBD5E1"/>
                </a:solidFill>
                <a:latin typeface="Aptos"/>
              </a:defRPr>
            </a:pPr>
            <a:r>
              <a:t>IETF OAuth WG, OpenID Foundation, W3C community group, or provider consortium?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10149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F8FAFC"/>
                </a:solidFill>
                <a:latin typeface="Aptos Display"/>
              </a:defRPr>
            </a:pPr>
            <a:r>
              <a:t>ABDS should invite technical challenge early. These open questions make the proposal stronger, not weaker.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64808"/>
            <a:ext cx="11201400" cy="9144"/>
          </a:xfrm>
          <a:prstGeom prst="rect">
            <a:avLst/>
          </a:prstGeom>
          <a:solidFill>
            <a:srgbClr val="24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943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94A3B8"/>
                </a:solidFill>
                <a:latin typeface="Aptos"/>
              </a:defRPr>
            </a:pPr>
            <a:r>
              <a:t>AI Billing Delegation Standard | Appendix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37960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94A3B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1912</Words>
  <Application>Microsoft Office PowerPoint</Application>
  <PresentationFormat>Widescreen</PresentationFormat>
  <Paragraphs>306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 Johnston</cp:lastModifiedBy>
  <cp:revision>2</cp:revision>
  <dcterms:created xsi:type="dcterms:W3CDTF">2013-01-27T09:14:16Z</dcterms:created>
  <dcterms:modified xsi:type="dcterms:W3CDTF">2026-06-07T13:54:30Z</dcterms:modified>
  <cp:category/>
</cp:coreProperties>
</file>