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510528"/>
            <a:ext cx="111556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47104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Billing Delegation Standard (ABDS) - Draft v0.5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686800" y="6547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F8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NeuroSync AI Dynamics Pty Ltd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8AA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8AA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92440" y="45720"/>
            <a:ext cx="3977640" cy="3977640"/>
          </a:xfrm>
          <a:prstGeom prst="ellipse">
            <a:avLst/>
          </a:prstGeom>
          <a:solidFill>
            <a:srgbClr val="0B2940">
              <a:alpha val="85000"/>
            </a:srgbClr>
          </a:solidFill>
          <a:ln w="12700">
            <a:solidFill>
              <a:srgbClr val="0B294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320040"/>
            <a:ext cx="3108960" cy="3108960"/>
          </a:xfrm>
          <a:prstGeom prst="ellipse">
            <a:avLst/>
          </a:prstGeom>
          <a:solidFill>
            <a:srgbClr val="123D58">
              <a:alpha val="75000"/>
            </a:srgbClr>
          </a:solidFill>
          <a:ln w="12700">
            <a:solidFill>
              <a:srgbClr val="123D5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60120"/>
            <a:ext cx="6949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5F8FC"/>
                </a:solidFill>
              </a:rPr>
              <a:t>AI BILLING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5F8FC"/>
                </a:solidFill>
              </a:rPr>
              <a:t>DELEGATION STANDARD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749808" y="26791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0E6"/>
                </a:solidFill>
              </a:rPr>
              <a:t>ABDS v0.5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58952" y="340156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E3F0"/>
                </a:solidFill>
              </a:rPr>
              <a:t>Provider-enforced funding, usage attribution,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8E3F0"/>
                </a:solidFill>
              </a:rPr>
              <a:t>and settlement for third-party AI applications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58952" y="4462272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5D8CFF"/>
          </a:solidFill>
          <a:ln w="12700">
            <a:solidFill>
              <a:srgbClr val="5D8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" y="4530852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OAuth-aligned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2514600" y="4462272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52D273"/>
          </a:solidFill>
          <a:ln w="12700">
            <a:solidFill>
              <a:srgbClr val="52D2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87752" y="45308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Payer-neutral</a:t>
            </a:r>
            <a:endParaRPr lang="en-US" sz="870" dirty="0"/>
          </a:p>
        </p:txBody>
      </p:sp>
      <p:sp>
        <p:nvSpPr>
          <p:cNvPr id="12" name="Shape 10"/>
          <p:cNvSpPr/>
          <p:nvPr/>
        </p:nvSpPr>
        <p:spPr>
          <a:xfrm>
            <a:off x="4389120" y="4462272"/>
            <a:ext cx="2029968" cy="329184"/>
          </a:xfrm>
          <a:prstGeom prst="roundRect">
            <a:avLst>
              <a:gd name="adj" fmla="val 22222"/>
            </a:avLst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62272" y="453085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Append-only events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758952" y="51389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7C0"/>
                </a:solidFill>
              </a:rPr>
              <a:t>Executive &amp; Technical Brief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58200" y="1078992"/>
            <a:ext cx="2423160" cy="621792"/>
          </a:xfrm>
          <a:prstGeom prst="roundRect">
            <a:avLst>
              <a:gd name="adj" fmla="val 10294"/>
            </a:avLst>
          </a:prstGeom>
          <a:solidFill>
            <a:srgbClr val="10243A"/>
          </a:solidFill>
          <a:ln w="15240">
            <a:solidFill>
              <a:srgbClr val="35D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49640" y="1188720"/>
            <a:ext cx="22402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Delegated AI Grant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458200" y="2075688"/>
            <a:ext cx="2423160" cy="621792"/>
          </a:xfrm>
          <a:prstGeom prst="roundRect">
            <a:avLst>
              <a:gd name="adj" fmla="val 10294"/>
            </a:avLst>
          </a:prstGeom>
          <a:solidFill>
            <a:srgbClr val="10243A"/>
          </a:solidFill>
          <a:ln w="15240">
            <a:solidFill>
              <a:srgbClr val="5D8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9640" y="2185416"/>
            <a:ext cx="22402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Execution Token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571232" y="3182112"/>
            <a:ext cx="2048256" cy="731520"/>
          </a:xfrm>
          <a:prstGeom prst="roundRect">
            <a:avLst>
              <a:gd name="adj" fmla="val 8750"/>
            </a:avLst>
          </a:prstGeom>
          <a:solidFill>
            <a:srgbClr val="10243A"/>
          </a:solidFill>
          <a:ln w="15240">
            <a:solidFill>
              <a:srgbClr val="52D2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2672" y="3291840"/>
            <a:ext cx="186537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Usage Event Plane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720072" y="3182112"/>
            <a:ext cx="2048256" cy="731520"/>
          </a:xfrm>
          <a:prstGeom prst="roundRect">
            <a:avLst>
              <a:gd name="adj" fmla="val 8750"/>
            </a:avLst>
          </a:prstGeom>
          <a:solidFill>
            <a:srgbClr val="10243A"/>
          </a:solidFill>
          <a:ln w="15240">
            <a:solidFill>
              <a:srgbClr val="FFBE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11512" y="3291840"/>
            <a:ext cx="186537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Ledger Event Plane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674352" y="1700784"/>
            <a:ext cx="0" cy="356616"/>
          </a:xfrm>
          <a:prstGeom prst="line">
            <a:avLst/>
          </a:prstGeom>
          <a:noFill/>
          <a:ln w="25400">
            <a:solidFill>
              <a:srgbClr val="35D0E6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674352" y="2706624"/>
            <a:ext cx="-1060704" cy="457200"/>
          </a:xfrm>
          <a:prstGeom prst="line">
            <a:avLst/>
          </a:prstGeom>
          <a:noFill/>
          <a:ln w="25400">
            <a:solidFill>
              <a:srgbClr val="5D8CF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674352" y="2706624"/>
            <a:ext cx="1069848" cy="457200"/>
          </a:xfrm>
          <a:prstGeom prst="line">
            <a:avLst/>
          </a:prstGeom>
          <a:noFill/>
          <a:ln w="25400">
            <a:solidFill>
              <a:srgbClr val="5D8CFF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8AA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8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ABDS needed a v0.5 upgrade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authorization core was necessary - but not sufficient for production cost control.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64008" cy="182880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56362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Legacy gap 1 - Invoice opacity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95528" y="1920240"/>
            <a:ext cx="3172968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A Provider invoice cannot explain which user, workspace, feature, workflow, agent step, route, retry, or model attempt caused the cost.</a:t>
            </a:r>
            <a:endParaRPr lang="en-US" sz="1040" dirty="0"/>
          </a:p>
        </p:txBody>
      </p:sp>
      <p:sp>
        <p:nvSpPr>
          <p:cNvPr id="8" name="Shape 6"/>
          <p:cNvSpPr/>
          <p:nvPr/>
        </p:nvSpPr>
        <p:spPr>
          <a:xfrm>
            <a:off x="4343400" y="141732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417320"/>
            <a:ext cx="64008" cy="1828800"/>
          </a:xfrm>
          <a:prstGeom prst="rect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4568" y="156362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Legacy gap 2 - Variable cost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44568" y="1920240"/>
            <a:ext cx="3172968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Streaming, multimodal, batch and agentic operations do not have a reliable final cost when the request begins.</a:t>
            </a:r>
            <a:endParaRPr lang="en-US" sz="1040" dirty="0"/>
          </a:p>
        </p:txBody>
      </p:sp>
      <p:sp>
        <p:nvSpPr>
          <p:cNvPr id="12" name="Shape 10"/>
          <p:cNvSpPr/>
          <p:nvPr/>
        </p:nvSpPr>
        <p:spPr>
          <a:xfrm>
            <a:off x="8092440" y="141732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92440" y="1417320"/>
            <a:ext cx="64008" cy="1828800"/>
          </a:xfrm>
          <a:prstGeom prst="rect">
            <a:avLst/>
          </a:prstGeom>
          <a:solidFill>
            <a:srgbClr val="5D8CFF"/>
          </a:solidFill>
          <a:ln w="12700">
            <a:solidFill>
              <a:srgbClr val="5D8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3608" y="156362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Legacy gap 3 - Hidden retries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93608" y="1920240"/>
            <a:ext cx="3172968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One logical action may trigger several billable physical attempts through retries, fallback, routing or safety calls.</a:t>
            </a:r>
            <a:endParaRPr lang="en-US" sz="1040" dirty="0"/>
          </a:p>
        </p:txBody>
      </p:sp>
      <p:sp>
        <p:nvSpPr>
          <p:cNvPr id="16" name="Text 14"/>
          <p:cNvSpPr/>
          <p:nvPr/>
        </p:nvSpPr>
        <p:spPr>
          <a:xfrm>
            <a:off x="640080" y="367588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8FC"/>
                </a:solidFill>
              </a:rPr>
              <a:t>v0.5 adds the missing operational layer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777240" y="4251960"/>
            <a:ext cx="146304" cy="146304"/>
          </a:xfrm>
          <a:prstGeom prst="ellipse">
            <a:avLst/>
          </a:prstGeom>
          <a:solidFill>
            <a:srgbClr val="52D273"/>
          </a:solidFill>
          <a:ln w="12700">
            <a:solidFill>
              <a:srgbClr val="52D2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41970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D8E3F0"/>
                </a:solidFill>
              </a:rPr>
              <a:t>One immutable event per physical attempt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777240" y="4608576"/>
            <a:ext cx="146304" cy="146304"/>
          </a:xfrm>
          <a:prstGeom prst="ellipse">
            <a:avLst/>
          </a:prstGeom>
          <a:solidFill>
            <a:srgbClr val="35D0E6"/>
          </a:solidFill>
          <a:ln w="12700">
            <a:solidFill>
              <a:srgbClr val="35D0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4553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D8E3F0"/>
                </a:solidFill>
              </a:rPr>
              <a:t>Separate technical usage and economic ledger events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777240" y="4965192"/>
            <a:ext cx="146304" cy="146304"/>
          </a:xfrm>
          <a:prstGeom prst="ellipse">
            <a:avLst/>
          </a:prstGeom>
          <a:solidFill>
            <a:srgbClr val="5D8CFF"/>
          </a:solidFill>
          <a:ln w="12700">
            <a:solidFill>
              <a:srgbClr val="5D8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49103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D8E3F0"/>
                </a:solidFill>
              </a:rPr>
              <a:t>Requested vs resolved model and route attribution</a:t>
            </a:r>
            <a:endParaRPr lang="en-US" sz="1120" dirty="0"/>
          </a:p>
        </p:txBody>
      </p:sp>
      <p:sp>
        <p:nvSpPr>
          <p:cNvPr id="23" name="Shape 21"/>
          <p:cNvSpPr/>
          <p:nvPr/>
        </p:nvSpPr>
        <p:spPr>
          <a:xfrm>
            <a:off x="777240" y="5321808"/>
            <a:ext cx="146304" cy="146304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52669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D8E3F0"/>
                </a:solidFill>
              </a:rPr>
              <a:t>Estimate - reserve - execute - settle - release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777240" y="5678424"/>
            <a:ext cx="146304" cy="14630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4128" y="562356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D8E3F0"/>
                </a:solidFill>
              </a:rPr>
              <a:t>Idempotency, reconciliation and compensating adjustments</a:t>
            </a:r>
            <a:endParaRPr lang="en-US" sz="1120" dirty="0"/>
          </a:p>
        </p:txBody>
      </p:sp>
      <p:sp>
        <p:nvSpPr>
          <p:cNvPr id="27" name="Shape 25"/>
          <p:cNvSpPr/>
          <p:nvPr/>
        </p:nvSpPr>
        <p:spPr>
          <a:xfrm>
            <a:off x="7315200" y="3977640"/>
            <a:ext cx="4160520" cy="1417320"/>
          </a:xfrm>
          <a:prstGeom prst="roundRect">
            <a:avLst>
              <a:gd name="adj" fmla="val 4516"/>
            </a:avLst>
          </a:prstGeom>
          <a:solidFill>
            <a:srgbClr val="10243A"/>
          </a:solidFill>
          <a:ln w="15240">
            <a:solidFill>
              <a:srgbClr val="35D0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06640" y="4087368"/>
            <a:ext cx="397764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8FC"/>
                </a:solidFill>
              </a:rPr>
              <a:t>From “who may spend?”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8FC"/>
                </a:solidFill>
              </a:rPr>
              <a:t>to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8FC"/>
                </a:solidFill>
              </a:rPr>
              <a:t>“who spent, why, where, and how was it settled?”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8AA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8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Payer-neutral authorization core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funding party can differ from the person using the application.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65960" cy="777240"/>
          </a:xfrm>
          <a:prstGeom prst="roundRect">
            <a:avLst>
              <a:gd name="adj" fmla="val 8235"/>
            </a:avLst>
          </a:prstGeom>
          <a:solidFill>
            <a:srgbClr val="10243A"/>
          </a:solidFill>
          <a:ln w="15240">
            <a:solidFill>
              <a:srgbClr val="5D8C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27048"/>
            <a:ext cx="17830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User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Entitlement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61488" y="1417320"/>
            <a:ext cx="1965960" cy="777240"/>
          </a:xfrm>
          <a:prstGeom prst="roundRect">
            <a:avLst>
              <a:gd name="adj" fmla="val 8235"/>
            </a:avLst>
          </a:prstGeom>
          <a:solidFill>
            <a:srgbClr val="10243A"/>
          </a:solidFill>
          <a:ln w="15240">
            <a:solidFill>
              <a:srgbClr val="35D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52928" y="1527048"/>
            <a:ext cx="17830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Organization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Budget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65776" y="1417320"/>
            <a:ext cx="1965960" cy="777240"/>
          </a:xfrm>
          <a:prstGeom prst="roundRect">
            <a:avLst>
              <a:gd name="adj" fmla="val 8235"/>
            </a:avLst>
          </a:prstGeom>
          <a:solidFill>
            <a:srgbClr val="10243A"/>
          </a:solidFill>
          <a:ln w="15240">
            <a:solidFill>
              <a:srgbClr val="52D27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57216" y="1527048"/>
            <a:ext cx="17830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Sponsor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Budget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70064" y="1417320"/>
            <a:ext cx="1965960" cy="777240"/>
          </a:xfrm>
          <a:prstGeom prst="roundRect">
            <a:avLst>
              <a:gd name="adj" fmla="val 8235"/>
            </a:avLst>
          </a:prstGeom>
          <a:solidFill>
            <a:srgbClr val="10243A"/>
          </a:solidFill>
          <a:ln w="15240">
            <a:solidFill>
              <a:srgbClr val="FFBE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61504" y="1527048"/>
            <a:ext cx="17830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Provider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Promotion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74352" y="1417320"/>
            <a:ext cx="1965960" cy="777240"/>
          </a:xfrm>
          <a:prstGeom prst="roundRect">
            <a:avLst>
              <a:gd name="adj" fmla="val 8235"/>
            </a:avLst>
          </a:prstGeom>
          <a:solidFill>
            <a:srgbClr val="10243A"/>
          </a:solidFill>
          <a:ln w="15240">
            <a:solidFill>
              <a:srgbClr val="FF6B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65792" y="1527048"/>
            <a:ext cx="17830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Developer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Account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069080" y="2862072"/>
            <a:ext cx="4023360" cy="777240"/>
          </a:xfrm>
          <a:prstGeom prst="roundRect">
            <a:avLst>
              <a:gd name="adj" fmla="val 8235"/>
            </a:avLst>
          </a:prstGeom>
          <a:solidFill>
            <a:srgbClr val="10243A"/>
          </a:solidFill>
          <a:ln w="15240">
            <a:solidFill>
              <a:srgbClr val="35D0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71800"/>
            <a:ext cx="38404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8FC"/>
                </a:solidFill>
              </a:rPr>
              <a:t>Provider-maintained Delegated AI Grant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434840" y="4087368"/>
            <a:ext cx="3291840" cy="685800"/>
          </a:xfrm>
          <a:prstGeom prst="roundRect">
            <a:avLst>
              <a:gd name="adj" fmla="val 9333"/>
            </a:avLst>
          </a:prstGeom>
          <a:solidFill>
            <a:srgbClr val="10243A"/>
          </a:solidFill>
          <a:ln w="15240">
            <a:solidFill>
              <a:srgbClr val="5D8C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4197096"/>
            <a:ext cx="310896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8FC"/>
                </a:solidFill>
              </a:rPr>
              <a:t>Short-lived Execution Token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069080" y="5184648"/>
            <a:ext cx="4023360" cy="713232"/>
          </a:xfrm>
          <a:prstGeom prst="roundRect">
            <a:avLst>
              <a:gd name="adj" fmla="val 8974"/>
            </a:avLst>
          </a:prstGeom>
          <a:solidFill>
            <a:srgbClr val="10243A"/>
          </a:solidFill>
          <a:ln w="15240">
            <a:solidFill>
              <a:srgbClr val="52D2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60520" y="5294376"/>
            <a:ext cx="384048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8FC"/>
                </a:solidFill>
              </a:rPr>
              <a:t>Provider Execution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444752" y="2194560"/>
            <a:ext cx="4636008" cy="640080"/>
          </a:xfrm>
          <a:prstGeom prst="line">
            <a:avLst/>
          </a:prstGeom>
          <a:noFill/>
          <a:ln w="19050">
            <a:solidFill>
              <a:srgbClr val="5D8CF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49040" y="2194560"/>
            <a:ext cx="2331720" cy="640080"/>
          </a:xfrm>
          <a:prstGeom prst="line">
            <a:avLst/>
          </a:prstGeom>
          <a:noFill/>
          <a:ln w="19050">
            <a:solidFill>
              <a:srgbClr val="35D0E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053328" y="2194560"/>
            <a:ext cx="27432" cy="640080"/>
          </a:xfrm>
          <a:prstGeom prst="line">
            <a:avLst/>
          </a:prstGeom>
          <a:noFill/>
          <a:ln w="19050">
            <a:solidFill>
              <a:srgbClr val="52D27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357616" y="2194560"/>
            <a:ext cx="-2276856" cy="640080"/>
          </a:xfrm>
          <a:prstGeom prst="line">
            <a:avLst/>
          </a:prstGeom>
          <a:noFill/>
          <a:ln w="19050">
            <a:solidFill>
              <a:srgbClr val="FFBE5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661904" y="2194560"/>
            <a:ext cx="-4581144" cy="640080"/>
          </a:xfrm>
          <a:prstGeom prst="line">
            <a:avLst/>
          </a:prstGeom>
          <a:noFill/>
          <a:ln w="19050">
            <a:solidFill>
              <a:srgbClr val="FF6B6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080760" y="3639312"/>
            <a:ext cx="0" cy="420624"/>
          </a:xfrm>
          <a:prstGeom prst="line">
            <a:avLst/>
          </a:prstGeom>
          <a:noFill/>
          <a:ln w="27940">
            <a:solidFill>
              <a:srgbClr val="35D0E6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080760" y="4782312"/>
            <a:ext cx="0" cy="374904"/>
          </a:xfrm>
          <a:prstGeom prst="line">
            <a:avLst/>
          </a:prstGeom>
          <a:noFill/>
          <a:ln w="27940">
            <a:solidFill>
              <a:srgbClr val="5D8CF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549640" y="2788920"/>
            <a:ext cx="3063240" cy="3154680"/>
          </a:xfrm>
          <a:prstGeom prst="roundRect">
            <a:avLst>
              <a:gd name="adj" fmla="val 2388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49640" y="2788920"/>
            <a:ext cx="64008" cy="3154680"/>
          </a:xfrm>
          <a:prstGeom prst="rect">
            <a:avLst/>
          </a:prstGeom>
          <a:solidFill>
            <a:srgbClr val="52D273"/>
          </a:solidFill>
          <a:ln w="12700">
            <a:solidFill>
              <a:srgbClr val="52D27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50808" y="29352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Non-negotiable safeguards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750808" y="3291840"/>
            <a:ext cx="2715768" cy="2514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Mutable quota and settlement state stay Provider-side.</a:t>
            </a:r>
            <a:endParaRPr lang="en-US" sz="1040" dirty="0"/>
          </a:p>
          <a:p>
            <a:pPr indent="0" marL="0">
              <a:buNone/>
            </a:pP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The payer cannot change silently.</a:t>
            </a:r>
            <a:endParaRPr lang="en-US" sz="1040" dirty="0"/>
          </a:p>
          <a:p>
            <a:pPr indent="0" marL="0">
              <a:buNone/>
            </a:pP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Funding never implies access to prompts, outputs, files or identity.</a:t>
            </a:r>
            <a:endParaRPr lang="en-US" sz="1040" dirty="0"/>
          </a:p>
          <a:p>
            <a:pPr indent="0" marL="0">
              <a:buNone/>
            </a:pP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The token can only narrow - never expand - the grant.</a:t>
            </a:r>
            <a:endParaRPr lang="en-US" sz="10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8AA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8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v0.5 two-plane architecture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facts and economic mutations have different trust, privacy and correction requirements.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90288" y="1325880"/>
            <a:ext cx="2999232" cy="694944"/>
          </a:xfrm>
          <a:prstGeom prst="roundRect">
            <a:avLst>
              <a:gd name="adj" fmla="val 9211"/>
            </a:avLst>
          </a:prstGeom>
          <a:solidFill>
            <a:srgbClr val="10243A"/>
          </a:solidFill>
          <a:ln w="1524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81728" y="1435608"/>
            <a:ext cx="2816352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8FC"/>
                </a:solidFill>
              </a:rPr>
              <a:t>Provider Execution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0" y="2057400"/>
            <a:ext cx="-2514600" cy="685800"/>
          </a:xfrm>
          <a:prstGeom prst="line">
            <a:avLst/>
          </a:prstGeom>
          <a:noFill/>
          <a:ln w="31750">
            <a:solidFill>
              <a:srgbClr val="52D27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675120" y="2057400"/>
            <a:ext cx="2514600" cy="685800"/>
          </a:xfrm>
          <a:prstGeom prst="line">
            <a:avLst/>
          </a:prstGeom>
          <a:noFill/>
          <a:ln w="31750">
            <a:solidFill>
              <a:srgbClr val="FFBE55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743200"/>
            <a:ext cx="4800600" cy="3035808"/>
          </a:xfrm>
          <a:prstGeom prst="roundRect">
            <a:avLst>
              <a:gd name="adj" fmla="val 2410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743200"/>
            <a:ext cx="64008" cy="3035808"/>
          </a:xfrm>
          <a:prstGeom prst="rect">
            <a:avLst/>
          </a:prstGeom>
          <a:solidFill>
            <a:srgbClr val="52D273"/>
          </a:solidFill>
          <a:ln w="12700">
            <a:solidFill>
              <a:srgbClr val="52D2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889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USAGE EVENT PLANE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41248" y="3246120"/>
            <a:ext cx="4453128" cy="2395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What technically happened</a:t>
            </a:r>
            <a:endParaRPr lang="en-US" sz="1040" dirty="0"/>
          </a:p>
          <a:p>
            <a:pPr indent="0" marL="0">
              <a:buNone/>
            </a:pP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logical request + physical attempt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requested and resolved model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Provider route, retry and outcome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tokens, modalities, tools and latency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optional workspace / workflow / agent refs</a:t>
            </a:r>
            <a:endParaRPr lang="en-US" sz="1040" dirty="0"/>
          </a:p>
          <a:p>
            <a:pPr indent="0" marL="0">
              <a:buNone/>
            </a:pP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One immutable event per billable attempt.</a:t>
            </a:r>
            <a:endParaRPr lang="en-US" sz="1040" dirty="0"/>
          </a:p>
        </p:txBody>
      </p:sp>
      <p:sp>
        <p:nvSpPr>
          <p:cNvPr id="12" name="Shape 10"/>
          <p:cNvSpPr/>
          <p:nvPr/>
        </p:nvSpPr>
        <p:spPr>
          <a:xfrm>
            <a:off x="6748272" y="2743200"/>
            <a:ext cx="4800600" cy="3035808"/>
          </a:xfrm>
          <a:prstGeom prst="roundRect">
            <a:avLst>
              <a:gd name="adj" fmla="val 2410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48272" y="2743200"/>
            <a:ext cx="64008" cy="3035808"/>
          </a:xfrm>
          <a:prstGeom prst="rect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2889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ECONOMIC LEDGER PLANE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49440" y="3246120"/>
            <a:ext cx="4453128" cy="2395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What happened economically</a:t>
            </a:r>
            <a:endParaRPr lang="en-US" sz="1040" dirty="0"/>
          </a:p>
          <a:p>
            <a:pPr indent="0" marL="0">
              <a:buNone/>
            </a:pP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reservation created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settlement posted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unused quantity released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reservation expired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execution denied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compensating adjustment</a:t>
            </a:r>
            <a:endParaRPr lang="en-US" sz="1040" dirty="0"/>
          </a:p>
          <a:p>
            <a:pPr indent="0" marL="0">
              <a:buNone/>
            </a:pP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Provider-authoritative and idempotent.</a:t>
            </a:r>
            <a:endParaRPr lang="en-US" sz="1040" dirty="0"/>
          </a:p>
        </p:txBody>
      </p:sp>
      <p:sp>
        <p:nvSpPr>
          <p:cNvPr id="16" name="Text 14"/>
          <p:cNvSpPr/>
          <p:nvPr/>
        </p:nvSpPr>
        <p:spPr>
          <a:xfrm>
            <a:off x="1828800" y="59893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5D0E6"/>
                </a:solidFill>
              </a:rPr>
              <a:t>Client labels help explain product behavior, but cannot change the payer or billed quantity.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8AA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8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Attribution hierarchy and retry visibility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user action can create several real executions - every billable attempt remains visible.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3246120" cy="411480"/>
          </a:xfrm>
          <a:prstGeom prst="roundRect">
            <a:avLst>
              <a:gd name="adj" fmla="val 15556"/>
            </a:avLst>
          </a:prstGeom>
          <a:solidFill>
            <a:srgbClr val="10243A"/>
          </a:solidFill>
          <a:ln w="15240">
            <a:solidFill>
              <a:srgbClr val="35D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408176"/>
            <a:ext cx="3063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5F8FC"/>
                </a:solidFill>
              </a:rPr>
              <a:t>Funding source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2286000" y="1709928"/>
            <a:ext cx="329184" cy="109728"/>
          </a:xfrm>
          <a:prstGeom prst="line">
            <a:avLst/>
          </a:prstGeom>
          <a:noFill/>
          <a:ln w="13970">
            <a:solidFill>
              <a:srgbClr val="8FA7C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7552" y="1828800"/>
            <a:ext cx="3246120" cy="411480"/>
          </a:xfrm>
          <a:prstGeom prst="roundRect">
            <a:avLst>
              <a:gd name="adj" fmla="val 15556"/>
            </a:avLst>
          </a:prstGeom>
          <a:solidFill>
            <a:srgbClr val="10243A"/>
          </a:solidFill>
          <a:ln w="15240">
            <a:solidFill>
              <a:srgbClr val="5D8C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1938528"/>
            <a:ext cx="3063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5F8FC"/>
                </a:solidFill>
              </a:rPr>
              <a:t>Delegated grant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2615184" y="2240280"/>
            <a:ext cx="329184" cy="109728"/>
          </a:xfrm>
          <a:prstGeom prst="line">
            <a:avLst/>
          </a:prstGeom>
          <a:noFill/>
          <a:ln w="13970">
            <a:solidFill>
              <a:srgbClr val="8FA7C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316736" y="2359152"/>
            <a:ext cx="3246120" cy="411480"/>
          </a:xfrm>
          <a:prstGeom prst="roundRect">
            <a:avLst>
              <a:gd name="adj" fmla="val 15556"/>
            </a:avLst>
          </a:prstGeom>
          <a:solidFill>
            <a:srgbClr val="10243A"/>
          </a:solidFill>
          <a:ln w="15240">
            <a:solidFill>
              <a:srgbClr val="35D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08176" y="2468880"/>
            <a:ext cx="3063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5F8FC"/>
                </a:solidFill>
              </a:rPr>
              <a:t>Client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2944368" y="2770632"/>
            <a:ext cx="329184" cy="109728"/>
          </a:xfrm>
          <a:prstGeom prst="line">
            <a:avLst/>
          </a:prstGeom>
          <a:noFill/>
          <a:ln w="13970">
            <a:solidFill>
              <a:srgbClr val="8FA7C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645920" y="2889504"/>
            <a:ext cx="3246120" cy="411480"/>
          </a:xfrm>
          <a:prstGeom prst="roundRect">
            <a:avLst>
              <a:gd name="adj" fmla="val 15556"/>
            </a:avLst>
          </a:prstGeom>
          <a:solidFill>
            <a:srgbClr val="10243A"/>
          </a:solidFill>
          <a:ln w="15240">
            <a:solidFill>
              <a:srgbClr val="5D8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37360" y="2999232"/>
            <a:ext cx="3063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5F8FC"/>
                </a:solidFill>
              </a:rPr>
              <a:t>Beneficiary / workspace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3273552" y="3300984"/>
            <a:ext cx="329184" cy="109728"/>
          </a:xfrm>
          <a:prstGeom prst="line">
            <a:avLst/>
          </a:prstGeom>
          <a:noFill/>
          <a:ln w="13970">
            <a:solidFill>
              <a:srgbClr val="8FA7C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975104" y="3419856"/>
            <a:ext cx="3246120" cy="411480"/>
          </a:xfrm>
          <a:prstGeom prst="roundRect">
            <a:avLst>
              <a:gd name="adj" fmla="val 15556"/>
            </a:avLst>
          </a:prstGeom>
          <a:solidFill>
            <a:srgbClr val="10243A"/>
          </a:solidFill>
          <a:ln w="15240">
            <a:solidFill>
              <a:srgbClr val="35D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66544" y="3529584"/>
            <a:ext cx="3063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5F8FC"/>
                </a:solidFill>
              </a:rPr>
              <a:t>Logical request - req_88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602736" y="3831336"/>
            <a:ext cx="329184" cy="109728"/>
          </a:xfrm>
          <a:prstGeom prst="line">
            <a:avLst/>
          </a:prstGeom>
          <a:noFill/>
          <a:ln w="13970">
            <a:solidFill>
              <a:srgbClr val="8FA7C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304288" y="3950208"/>
            <a:ext cx="3246120" cy="411480"/>
          </a:xfrm>
          <a:prstGeom prst="roundRect">
            <a:avLst>
              <a:gd name="adj" fmla="val 15556"/>
            </a:avLst>
          </a:prstGeom>
          <a:solidFill>
            <a:srgbClr val="10243A"/>
          </a:solidFill>
          <a:ln w="15240">
            <a:solidFill>
              <a:srgbClr val="5D8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95728" y="4059936"/>
            <a:ext cx="3063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5F8FC"/>
                </a:solidFill>
              </a:rPr>
              <a:t>Workflow / feature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3931920" y="4361688"/>
            <a:ext cx="329184" cy="109728"/>
          </a:xfrm>
          <a:prstGeom prst="line">
            <a:avLst/>
          </a:prstGeom>
          <a:noFill/>
          <a:ln w="13970">
            <a:solidFill>
              <a:srgbClr val="8FA7C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633472" y="4480560"/>
            <a:ext cx="3246120" cy="411480"/>
          </a:xfrm>
          <a:prstGeom prst="roundRect">
            <a:avLst>
              <a:gd name="adj" fmla="val 15556"/>
            </a:avLst>
          </a:prstGeom>
          <a:solidFill>
            <a:srgbClr val="10243A"/>
          </a:solidFill>
          <a:ln w="15240">
            <a:solidFill>
              <a:srgbClr val="35D0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24912" y="4590288"/>
            <a:ext cx="3063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5F8FC"/>
                </a:solidFill>
              </a:rPr>
              <a:t>Agent run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4261104" y="4892040"/>
            <a:ext cx="329184" cy="109728"/>
          </a:xfrm>
          <a:prstGeom prst="line">
            <a:avLst/>
          </a:prstGeom>
          <a:noFill/>
          <a:ln w="13970">
            <a:solidFill>
              <a:srgbClr val="8FA7C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962656" y="5010912"/>
            <a:ext cx="3246120" cy="411480"/>
          </a:xfrm>
          <a:prstGeom prst="roundRect">
            <a:avLst>
              <a:gd name="adj" fmla="val 15556"/>
            </a:avLst>
          </a:prstGeom>
          <a:solidFill>
            <a:srgbClr val="10243A"/>
          </a:solidFill>
          <a:ln w="15240">
            <a:solidFill>
              <a:srgbClr val="5D8C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54096" y="5120640"/>
            <a:ext cx="3063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5F8FC"/>
                </a:solidFill>
              </a:rPr>
              <a:t>Agent step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6446520" y="1572768"/>
            <a:ext cx="2057400" cy="621792"/>
          </a:xfrm>
          <a:prstGeom prst="roundRect">
            <a:avLst>
              <a:gd name="adj" fmla="val 10294"/>
            </a:avLst>
          </a:prstGeom>
          <a:solidFill>
            <a:srgbClr val="10243A"/>
          </a:solidFill>
          <a:ln w="15240">
            <a:solidFill>
              <a:srgbClr val="FF6B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1682496"/>
            <a:ext cx="18745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8FC"/>
                </a:solidFill>
              </a:rPr>
              <a:t>Attempt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F8FC"/>
                </a:solidFill>
              </a:rPr>
              <a:t>Primary timeout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89720" y="1572768"/>
            <a:ext cx="2057400" cy="621792"/>
          </a:xfrm>
          <a:prstGeom prst="roundRect">
            <a:avLst>
              <a:gd name="adj" fmla="val 10294"/>
            </a:avLst>
          </a:prstGeom>
          <a:solidFill>
            <a:srgbClr val="10243A"/>
          </a:solidFill>
          <a:ln w="15240">
            <a:solidFill>
              <a:srgbClr val="FFBE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81160" y="1682496"/>
            <a:ext cx="18745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8FC"/>
                </a:solidFill>
              </a:rPr>
              <a:t>Attempt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F8FC"/>
                </a:solidFill>
              </a:rPr>
              <a:t>Retry partial failure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818120" y="2880360"/>
            <a:ext cx="2057400" cy="621792"/>
          </a:xfrm>
          <a:prstGeom prst="roundRect">
            <a:avLst>
              <a:gd name="adj" fmla="val 10294"/>
            </a:avLst>
          </a:prstGeom>
          <a:solidFill>
            <a:srgbClr val="10243A"/>
          </a:solidFill>
          <a:ln w="15240">
            <a:solidFill>
              <a:srgbClr val="52D27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09560" y="2990088"/>
            <a:ext cx="18745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8FC"/>
                </a:solidFill>
              </a:rPr>
              <a:t>Attempt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F8FC"/>
                </a:solidFill>
              </a:rPr>
              <a:t>Fallback completed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08776" y="5221224"/>
            <a:ext cx="237744" cy="-3346704"/>
          </a:xfrm>
          <a:prstGeom prst="line">
            <a:avLst/>
          </a:prstGeom>
          <a:noFill/>
          <a:ln w="20320">
            <a:solidFill>
              <a:srgbClr val="5D8CF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208776" y="5221224"/>
            <a:ext cx="2980944" cy="-3346704"/>
          </a:xfrm>
          <a:prstGeom prst="line">
            <a:avLst/>
          </a:prstGeom>
          <a:noFill/>
          <a:ln w="20320">
            <a:solidFill>
              <a:srgbClr val="5D8CF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208776" y="5221224"/>
            <a:ext cx="1609344" cy="-2039112"/>
          </a:xfrm>
          <a:prstGeom prst="line">
            <a:avLst/>
          </a:prstGeom>
          <a:noFill/>
          <a:ln w="20320">
            <a:solidFill>
              <a:srgbClr val="5D8C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446520" y="40690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46520" y="4069080"/>
            <a:ext cx="64008" cy="1417320"/>
          </a:xfrm>
          <a:prstGeom prst="rect">
            <a:avLst/>
          </a:prstGeom>
          <a:solidFill>
            <a:srgbClr val="35D0E6"/>
          </a:solidFill>
          <a:ln w="12700">
            <a:solidFill>
              <a:srgbClr val="35D0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47688" y="421538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Why this matters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47688" y="4572000"/>
            <a:ext cx="445312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The final successful answer must not conceal failed or superseded attempts. Cost, latency and compatibility become traceable to product behavior.</a:t>
            </a:r>
            <a:endParaRPr lang="en-US" sz="1040" dirty="0"/>
          </a:p>
        </p:txBody>
      </p:sp>
      <p:sp>
        <p:nvSpPr>
          <p:cNvPr id="40" name="Shape 38"/>
          <p:cNvSpPr/>
          <p:nvPr/>
        </p:nvSpPr>
        <p:spPr>
          <a:xfrm>
            <a:off x="6446520" y="5715000"/>
            <a:ext cx="1508760" cy="329184"/>
          </a:xfrm>
          <a:prstGeom prst="roundRect">
            <a:avLst>
              <a:gd name="adj" fmla="val 22222"/>
            </a:avLst>
          </a:prstGeom>
          <a:solidFill>
            <a:srgbClr val="5D8CFF"/>
          </a:solidFill>
          <a:ln w="12700">
            <a:solidFill>
              <a:srgbClr val="5D8C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19672" y="5783580"/>
            <a:ext cx="1362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One logical request</a:t>
            </a:r>
            <a:endParaRPr lang="en-US" sz="870" dirty="0"/>
          </a:p>
        </p:txBody>
      </p:sp>
      <p:sp>
        <p:nvSpPr>
          <p:cNvPr id="42" name="Shape 40"/>
          <p:cNvSpPr/>
          <p:nvPr/>
        </p:nvSpPr>
        <p:spPr>
          <a:xfrm>
            <a:off x="8138160" y="5715000"/>
            <a:ext cx="1700784" cy="329184"/>
          </a:xfrm>
          <a:prstGeom prst="roundRect">
            <a:avLst>
              <a:gd name="adj" fmla="val 22222"/>
            </a:avLst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11312" y="578358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Several attempts</a:t>
            </a:r>
            <a:endParaRPr lang="en-US" sz="870" dirty="0"/>
          </a:p>
        </p:txBody>
      </p:sp>
      <p:sp>
        <p:nvSpPr>
          <p:cNvPr id="44" name="Shape 42"/>
          <p:cNvSpPr/>
          <p:nvPr/>
        </p:nvSpPr>
        <p:spPr>
          <a:xfrm>
            <a:off x="10021824" y="5715000"/>
            <a:ext cx="1225296" cy="329184"/>
          </a:xfrm>
          <a:prstGeom prst="roundRect">
            <a:avLst>
              <a:gd name="adj" fmla="val 22222"/>
            </a:avLst>
          </a:prstGeom>
          <a:solidFill>
            <a:srgbClr val="52D273"/>
          </a:solidFill>
          <a:ln w="12700">
            <a:solidFill>
              <a:srgbClr val="52D27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94976" y="5783580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</a:rPr>
              <a:t>One audit trail</a:t>
            </a:r>
            <a:endParaRPr lang="en-US" sz="8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8AA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8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Reservation and settlement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Variable-cost execution is bounded before work begins and reconciled after usage is known.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508760" cy="621792"/>
          </a:xfrm>
          <a:prstGeom prst="roundRect">
            <a:avLst>
              <a:gd name="adj" fmla="val 10294"/>
            </a:avLst>
          </a:prstGeom>
          <a:solidFill>
            <a:srgbClr val="10243A"/>
          </a:solidFill>
          <a:ln w="15240">
            <a:solidFill>
              <a:srgbClr val="5D8C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27048"/>
            <a:ext cx="13258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Authorize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11680" y="1728216"/>
            <a:ext cx="347472" cy="0"/>
          </a:xfrm>
          <a:prstGeom prst="line">
            <a:avLst/>
          </a:prstGeom>
          <a:noFill/>
          <a:ln w="19050">
            <a:solidFill>
              <a:srgbClr val="8FA7C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04872" y="1417320"/>
            <a:ext cx="1508760" cy="621792"/>
          </a:xfrm>
          <a:prstGeom prst="roundRect">
            <a:avLst>
              <a:gd name="adj" fmla="val 10294"/>
            </a:avLst>
          </a:prstGeom>
          <a:solidFill>
            <a:srgbClr val="10243A"/>
          </a:solidFill>
          <a:ln w="15240">
            <a:solidFill>
              <a:srgbClr val="35D0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96312" y="1527048"/>
            <a:ext cx="13258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Estimate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913632" y="1728216"/>
            <a:ext cx="347472" cy="0"/>
          </a:xfrm>
          <a:prstGeom prst="line">
            <a:avLst/>
          </a:prstGeom>
          <a:noFill/>
          <a:ln w="19050">
            <a:solidFill>
              <a:srgbClr val="8FA7C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06824" y="1417320"/>
            <a:ext cx="1508760" cy="621792"/>
          </a:xfrm>
          <a:prstGeom prst="roundRect">
            <a:avLst>
              <a:gd name="adj" fmla="val 10294"/>
            </a:avLst>
          </a:prstGeom>
          <a:solidFill>
            <a:srgbClr val="10243A"/>
          </a:solidFill>
          <a:ln w="15240">
            <a:solidFill>
              <a:srgbClr val="FFBE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98264" y="1527048"/>
            <a:ext cx="13258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Reserve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15584" y="1728216"/>
            <a:ext cx="347472" cy="0"/>
          </a:xfrm>
          <a:prstGeom prst="line">
            <a:avLst/>
          </a:prstGeom>
          <a:noFill/>
          <a:ln w="19050">
            <a:solidFill>
              <a:srgbClr val="8FA7C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08776" y="1417320"/>
            <a:ext cx="1508760" cy="621792"/>
          </a:xfrm>
          <a:prstGeom prst="roundRect">
            <a:avLst>
              <a:gd name="adj" fmla="val 10294"/>
            </a:avLst>
          </a:prstGeom>
          <a:solidFill>
            <a:srgbClr val="10243A"/>
          </a:solidFill>
          <a:ln w="15240">
            <a:solidFill>
              <a:srgbClr val="52D2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0216" y="1527048"/>
            <a:ext cx="13258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Execute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17536" y="1728216"/>
            <a:ext cx="347472" cy="0"/>
          </a:xfrm>
          <a:prstGeom prst="line">
            <a:avLst/>
          </a:prstGeom>
          <a:noFill/>
          <a:ln w="19050">
            <a:solidFill>
              <a:srgbClr val="8FA7C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10728" y="1417320"/>
            <a:ext cx="1508760" cy="621792"/>
          </a:xfrm>
          <a:prstGeom prst="roundRect">
            <a:avLst>
              <a:gd name="adj" fmla="val 10294"/>
            </a:avLst>
          </a:prstGeom>
          <a:solidFill>
            <a:srgbClr val="10243A"/>
          </a:solidFill>
          <a:ln w="15240">
            <a:solidFill>
              <a:srgbClr val="5D8C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2168" y="1527048"/>
            <a:ext cx="13258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Settle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619488" y="1728216"/>
            <a:ext cx="347472" cy="0"/>
          </a:xfrm>
          <a:prstGeom prst="line">
            <a:avLst/>
          </a:prstGeom>
          <a:noFill/>
          <a:ln w="19050">
            <a:solidFill>
              <a:srgbClr val="8FA7C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12680" y="1417320"/>
            <a:ext cx="1508760" cy="621792"/>
          </a:xfrm>
          <a:prstGeom prst="roundRect">
            <a:avLst>
              <a:gd name="adj" fmla="val 10294"/>
            </a:avLst>
          </a:prstGeom>
          <a:solidFill>
            <a:srgbClr val="10243A"/>
          </a:solidFill>
          <a:ln w="15240">
            <a:solidFill>
              <a:srgbClr val="35D0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04120" y="1527048"/>
            <a:ext cx="13258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8FC"/>
                </a:solidFill>
              </a:rPr>
              <a:t>Release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2514600"/>
            <a:ext cx="3429000" cy="2395728"/>
          </a:xfrm>
          <a:prstGeom prst="roundRect">
            <a:avLst>
              <a:gd name="adj" fmla="val 3053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514600"/>
            <a:ext cx="64008" cy="2395728"/>
          </a:xfrm>
          <a:prstGeom prst="rect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26609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Reservation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86968" y="3017520"/>
            <a:ext cx="3081528" cy="1755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A temporary atomic hold bound to one grant, Client, logical request, unit type and funding bucket. It prevents concurrent overspend.</a:t>
            </a:r>
            <a:endParaRPr lang="en-US" sz="1040" dirty="0"/>
          </a:p>
        </p:txBody>
      </p:sp>
      <p:sp>
        <p:nvSpPr>
          <p:cNvPr id="25" name="Shape 23"/>
          <p:cNvSpPr/>
          <p:nvPr/>
        </p:nvSpPr>
        <p:spPr>
          <a:xfrm>
            <a:off x="4407408" y="2514600"/>
            <a:ext cx="3429000" cy="2395728"/>
          </a:xfrm>
          <a:prstGeom prst="roundRect">
            <a:avLst>
              <a:gd name="adj" fmla="val 3053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07408" y="2514600"/>
            <a:ext cx="64008" cy="2395728"/>
          </a:xfrm>
          <a:prstGeom prst="rect">
            <a:avLst/>
          </a:prstGeom>
          <a:solidFill>
            <a:srgbClr val="5D8CFF"/>
          </a:solidFill>
          <a:ln w="12700">
            <a:solidFill>
              <a:srgbClr val="5D8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08576" y="26609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Settlement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608576" y="3017520"/>
            <a:ext cx="3081528" cy="1755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The final idempotent debit uses Provider-measured usage and references every billable Usage Event.</a:t>
            </a:r>
            <a:endParaRPr lang="en-US" sz="1040" dirty="0"/>
          </a:p>
        </p:txBody>
      </p:sp>
      <p:sp>
        <p:nvSpPr>
          <p:cNvPr id="29" name="Shape 27"/>
          <p:cNvSpPr/>
          <p:nvPr/>
        </p:nvSpPr>
        <p:spPr>
          <a:xfrm>
            <a:off x="8129016" y="2514600"/>
            <a:ext cx="3429000" cy="2395728"/>
          </a:xfrm>
          <a:prstGeom prst="roundRect">
            <a:avLst>
              <a:gd name="adj" fmla="val 3053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29016" y="2514600"/>
            <a:ext cx="64008" cy="2395728"/>
          </a:xfrm>
          <a:prstGeom prst="rect">
            <a:avLst/>
          </a:prstGeom>
          <a:solidFill>
            <a:srgbClr val="52D273"/>
          </a:solidFill>
          <a:ln w="12700">
            <a:solidFill>
              <a:srgbClr val="52D27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30184" y="26609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Finalization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330184" y="3017520"/>
            <a:ext cx="3081528" cy="1755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One reservation has one terminal finalization. Unused quantity is released inside settlement or through full release when no settlement occurs.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713232" y="5230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8FC"/>
                </a:solidFill>
              </a:rPr>
              <a:t>Accounting invariants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13232" y="5596128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8E3F0"/>
                </a:solidFill>
              </a:rPr>
              <a:t>• one settlement ID accepted once   • settled + released &lt;= reserved   • corrections use new adjustment events   • historical price snapshot retained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8AA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8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and security boundaries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sponsorship, operational observability and user content are separate permissions.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58368" y="1417320"/>
            <a:ext cx="2057400" cy="658368"/>
          </a:xfrm>
          <a:prstGeom prst="roundRect">
            <a:avLst>
              <a:gd name="adj" fmla="val 9722"/>
            </a:avLst>
          </a:prstGeom>
          <a:solidFill>
            <a:srgbClr val="10243A"/>
          </a:solidFill>
          <a:ln w="15240">
            <a:solidFill>
              <a:srgbClr val="5D8C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27048"/>
            <a:ext cx="18745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8FC"/>
                </a:solidFill>
              </a:rPr>
              <a:t>Resource User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74920" y="1417320"/>
            <a:ext cx="2057400" cy="658368"/>
          </a:xfrm>
          <a:prstGeom prst="roundRect">
            <a:avLst>
              <a:gd name="adj" fmla="val 9722"/>
            </a:avLst>
          </a:prstGeom>
          <a:solidFill>
            <a:srgbClr val="10243A"/>
          </a:solidFill>
          <a:ln w="15240">
            <a:solidFill>
              <a:srgbClr val="35D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66360" y="1527048"/>
            <a:ext cx="18745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8FC"/>
                </a:solidFill>
              </a:rPr>
              <a:t>AI Provider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464040" y="1417320"/>
            <a:ext cx="2057400" cy="658368"/>
          </a:xfrm>
          <a:prstGeom prst="roundRect">
            <a:avLst>
              <a:gd name="adj" fmla="val 9722"/>
            </a:avLst>
          </a:prstGeom>
          <a:solidFill>
            <a:srgbClr val="10243A"/>
          </a:solidFill>
          <a:ln w="15240">
            <a:solidFill>
              <a:srgbClr val="52D27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55480" y="1527048"/>
            <a:ext cx="18745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8FC"/>
                </a:solidFill>
              </a:rPr>
              <a:t>Sponsor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4343400"/>
            <a:ext cx="2057400" cy="658368"/>
          </a:xfrm>
          <a:prstGeom prst="roundRect">
            <a:avLst>
              <a:gd name="adj" fmla="val 9722"/>
            </a:avLst>
          </a:prstGeom>
          <a:solidFill>
            <a:srgbClr val="10243A"/>
          </a:solidFill>
          <a:ln w="15240">
            <a:solidFill>
              <a:srgbClr val="FFBE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453128"/>
            <a:ext cx="18745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8FC"/>
                </a:solidFill>
              </a:rPr>
              <a:t>Consumer App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24912" y="1737360"/>
            <a:ext cx="2322576" cy="0"/>
          </a:xfrm>
          <a:prstGeom prst="line">
            <a:avLst/>
          </a:prstGeom>
          <a:noFill/>
          <a:ln w="25400">
            <a:solidFill>
              <a:srgbClr val="5D8C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150608" y="1737360"/>
            <a:ext cx="2286000" cy="0"/>
          </a:xfrm>
          <a:prstGeom prst="line">
            <a:avLst/>
          </a:prstGeom>
          <a:noFill/>
          <a:ln w="25400">
            <a:solidFill>
              <a:srgbClr val="52D27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828800" y="4315968"/>
            <a:ext cx="3246120" cy="-2258568"/>
          </a:xfrm>
          <a:prstGeom prst="line">
            <a:avLst/>
          </a:prstGeom>
          <a:noFill/>
          <a:ln w="25400">
            <a:solidFill>
              <a:srgbClr val="FFBE5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074920" y="2075688"/>
            <a:ext cx="-2377440" cy="2249424"/>
          </a:xfrm>
          <a:prstGeom prst="line">
            <a:avLst/>
          </a:prstGeom>
          <a:noFill/>
          <a:ln w="25400">
            <a:solidFill>
              <a:srgbClr val="35D0E6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063240" y="141732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7C0"/>
                </a:solidFill>
              </a:rPr>
              <a:t>bounded authorization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60920" y="1417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7C0"/>
                </a:solidFill>
              </a:rPr>
              <a:t>aggregate reporting only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17720" y="2788920"/>
            <a:ext cx="3017520" cy="2148840"/>
          </a:xfrm>
          <a:prstGeom prst="roundRect">
            <a:avLst>
              <a:gd name="adj" fmla="val 3404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17720" y="2788920"/>
            <a:ext cx="64008" cy="2148840"/>
          </a:xfrm>
          <a:prstGeom prst="rect">
            <a:avLst/>
          </a:prstGeom>
          <a:solidFill>
            <a:srgbClr val="35D0E6"/>
          </a:solidFill>
          <a:ln w="12700">
            <a:solidFill>
              <a:srgbClr val="35D0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8888" y="293522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Provider safeguards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18888" y="3291840"/>
            <a:ext cx="2670048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PKCE and exact redirects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short-lived tokens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atomic limits and idempotency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immediate revocation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replay-protected event delivery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quota-laundering detection</a:t>
            </a:r>
            <a:endParaRPr lang="en-US" sz="1040" dirty="0"/>
          </a:p>
        </p:txBody>
      </p:sp>
      <p:sp>
        <p:nvSpPr>
          <p:cNvPr id="22" name="Shape 20"/>
          <p:cNvSpPr/>
          <p:nvPr/>
        </p:nvSpPr>
        <p:spPr>
          <a:xfrm>
            <a:off x="8339328" y="278892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39328" y="2788920"/>
            <a:ext cx="64008" cy="214884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40496" y="293522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Sponsor cannot receive by default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540496" y="3291840"/>
            <a:ext cx="2852928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Prompts, outputs, files, conversations, raw identity, workspace names, Client internal labels or confidential pool balances.</a:t>
            </a:r>
            <a:endParaRPr lang="en-US" sz="1040" dirty="0"/>
          </a:p>
        </p:txBody>
      </p:sp>
      <p:sp>
        <p:nvSpPr>
          <p:cNvPr id="26" name="Text 24"/>
          <p:cNvSpPr/>
          <p:nvPr/>
        </p:nvSpPr>
        <p:spPr>
          <a:xfrm>
            <a:off x="3840480" y="5623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2D273"/>
                </a:solidFill>
              </a:rPr>
              <a:t>Funding does not create a data-access right.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8AA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F8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 and next proof point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v0.5 is a synchronized draft proposal - not yet a Provider-adopted standard.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21792" y="1325880"/>
            <a:ext cx="3401568" cy="3611880"/>
          </a:xfrm>
          <a:prstGeom prst="roundRect">
            <a:avLst>
              <a:gd name="adj" fmla="val 2151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325880"/>
            <a:ext cx="64008" cy="3611880"/>
          </a:xfrm>
          <a:prstGeom prst="rect">
            <a:avLst/>
          </a:prstGeom>
          <a:solidFill>
            <a:srgbClr val="52D273"/>
          </a:solidFill>
          <a:ln w="12700">
            <a:solidFill>
              <a:srgbClr val="52D2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72184"/>
            <a:ext cx="3081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COMPLETED IN v0.5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828800"/>
            <a:ext cx="3054096" cy="2971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✓ canonical specification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✓ usage and ledger event profiles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✓ reservation and settlement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✓ JSON Schemas and examples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✓ automated validation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✓ discovery and implementation profiles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✓ expanded threat model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✓ synchronized diagrams and change control</a:t>
            </a:r>
            <a:endParaRPr lang="en-US" sz="104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401568" cy="3611880"/>
          </a:xfrm>
          <a:prstGeom prst="roundRect">
            <a:avLst>
              <a:gd name="adj" fmla="val 2151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325880"/>
            <a:ext cx="64008" cy="3611880"/>
          </a:xfrm>
          <a:prstGeom prst="rect">
            <a:avLst/>
          </a:prstGeom>
          <a:solidFill>
            <a:srgbClr val="35D0E6"/>
          </a:solidFill>
          <a:ln w="12700">
            <a:solidFill>
              <a:srgbClr val="35D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4568" y="1472184"/>
            <a:ext cx="3081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NEXT - v0.6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44568" y="1828800"/>
            <a:ext cx="3054096" cy="2971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ABDS Studio simulator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mock Authorization and Resource Servers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grant and ledger service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positive and negative test vectors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retry, fallback and idempotency tests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Sponsor privacy tests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machine-readable conformance report</a:t>
            </a:r>
            <a:endParaRPr lang="en-US" sz="104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401568" cy="3611880"/>
          </a:xfrm>
          <a:prstGeom prst="roundRect">
            <a:avLst>
              <a:gd name="adj" fmla="val 2151"/>
            </a:avLst>
          </a:prstGeom>
          <a:solidFill>
            <a:srgbClr val="0D1B2D"/>
          </a:solidFill>
          <a:ln w="12700">
            <a:solidFill>
              <a:srgbClr val="24476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25880"/>
            <a:ext cx="64008" cy="3611880"/>
          </a:xfrm>
          <a:prstGeom prst="rect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6176" y="1472184"/>
            <a:ext cx="3081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8FC"/>
                </a:solidFill>
              </a:rPr>
              <a:t>REVIEW NEEDED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66176" y="1828800"/>
            <a:ext cx="3054096" cy="2971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AI Provider platform engineers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OAuth and identity experts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billing and accounting architects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security and abuse specialists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privacy experts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consumer AI developers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D8E3F0"/>
                </a:solidFill>
              </a:rPr>
              <a:t>• Sponsor / nonprofit operators</a:t>
            </a:r>
            <a:endParaRPr lang="en-US" sz="1040" dirty="0"/>
          </a:p>
        </p:txBody>
      </p:sp>
      <p:sp>
        <p:nvSpPr>
          <p:cNvPr id="16" name="Text 14"/>
          <p:cNvSpPr/>
          <p:nvPr/>
        </p:nvSpPr>
        <p:spPr>
          <a:xfrm>
            <a:off x="685800" y="5532120"/>
            <a:ext cx="10835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5D0E6"/>
                </a:solidFill>
              </a:rPr>
              <a:t>Can an AI Provider enforce bounded third-party usage in a way that is auditable, payer-safe, privacy-preserving and interoperable?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8AA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NeuroSync AI Dynamics Pty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ABDS v0.5 Executive and Technical Brief</dc:title>
  <dc:subject>AI Billing Delegation Standard v0.5</dc:subject>
  <dc:creator>Marc Johnston, NeuroSync AI Dynamics Pty Ltd</dc:creator>
  <cp:lastModifiedBy>Marc Johnston, NeuroSync AI Dynamics Pty Ltd</cp:lastModifiedBy>
  <cp:revision>1</cp:revision>
  <dcterms:created xsi:type="dcterms:W3CDTF">2026-07-27T14:28:28Z</dcterms:created>
  <dcterms:modified xsi:type="dcterms:W3CDTF">2026-07-27T14:28:28Z</dcterms:modified>
</cp:coreProperties>
</file>